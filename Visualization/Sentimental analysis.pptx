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7" r:id="rId2"/>
    <p:sldId id="259" r:id="rId3"/>
    <p:sldId id="258"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5167" autoAdjust="0"/>
  </p:normalViewPr>
  <p:slideViewPr>
    <p:cSldViewPr snapToGrid="0">
      <p:cViewPr>
        <p:scale>
          <a:sx n="77" d="100"/>
          <a:sy n="77" d="100"/>
        </p:scale>
        <p:origin x="456" y="2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4BC73-DB08-4C08-AA3E-812913C378BA}" type="datetimeFigureOut">
              <a:rPr lang="en-IN" smtClean="0"/>
              <a:t>22-11-2024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CB237-B8DA-4C93-BA98-77BC8808017B}" type="slidenum">
              <a:rPr lang="en-IN" smtClean="0"/>
              <a:t>‹#›</a:t>
            </a:fld>
            <a:endParaRPr lang="en-IN"/>
          </a:p>
        </p:txBody>
      </p:sp>
    </p:spTree>
    <p:extLst>
      <p:ext uri="{BB962C8B-B14F-4D97-AF65-F5344CB8AC3E}">
        <p14:creationId xmlns:p14="http://schemas.microsoft.com/office/powerpoint/2010/main" val="1238135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ECECEC"/>
                </a:solidFill>
                <a:effectLst/>
                <a:latin typeface="Segoe UI Variable Text" pitchFamily="2" charset="0"/>
              </a:rPr>
              <a:t>Now, let me give you an overview of sentiment analysis."</a:t>
            </a:r>
          </a:p>
          <a:p>
            <a:pPr algn="l">
              <a:buFont typeface="Arial" panose="020B0604020202020204" pitchFamily="34" charset="0"/>
              <a:buChar char="•"/>
            </a:pPr>
            <a:r>
              <a:rPr lang="en-US" b="0" i="0" dirty="0">
                <a:solidFill>
                  <a:srgbClr val="ECECEC"/>
                </a:solidFill>
                <a:effectLst/>
                <a:latin typeface="Segoe UI Variable Text" pitchFamily="2" charset="0"/>
              </a:rPr>
              <a:t>"For sentiment values ranging from </a:t>
            </a:r>
            <a:r>
              <a:rPr lang="en-US" b="1" i="0" dirty="0">
                <a:solidFill>
                  <a:srgbClr val="ECECEC"/>
                </a:solidFill>
                <a:effectLst/>
                <a:latin typeface="Segoe UI Variable Text" pitchFamily="2" charset="0"/>
              </a:rPr>
              <a:t>-1 to +1</a:t>
            </a:r>
            <a:r>
              <a:rPr lang="en-US" b="0" i="0" dirty="0">
                <a:solidFill>
                  <a:srgbClr val="ECECEC"/>
                </a:solidFill>
                <a:effectLst/>
                <a:latin typeface="Segoe UI Variable Text" pitchFamily="2" charset="0"/>
              </a:rPr>
              <a:t>, we assigned descriptive text categories—ranging from </a:t>
            </a:r>
            <a:r>
              <a:rPr lang="en-US" b="0" i="1" dirty="0">
                <a:solidFill>
                  <a:srgbClr val="ECECEC"/>
                </a:solidFill>
                <a:effectLst/>
                <a:latin typeface="Segoe UI Variable Text" pitchFamily="2" charset="0"/>
              </a:rPr>
              <a:t>Terrible</a:t>
            </a:r>
            <a:r>
              <a:rPr lang="en-US" b="0" i="0" dirty="0">
                <a:solidFill>
                  <a:srgbClr val="ECECEC"/>
                </a:solidFill>
                <a:effectLst/>
                <a:latin typeface="Segoe UI Variable Text" pitchFamily="2" charset="0"/>
              </a:rPr>
              <a:t> to </a:t>
            </a:r>
            <a:r>
              <a:rPr lang="en-US" b="0" i="1" dirty="0">
                <a:solidFill>
                  <a:srgbClr val="ECECEC"/>
                </a:solidFill>
                <a:effectLst/>
                <a:latin typeface="Segoe UI Variable Text" pitchFamily="2" charset="0"/>
              </a:rPr>
              <a:t>Masterpiece</a:t>
            </a:r>
            <a:r>
              <a:rPr lang="en-US" b="0" i="0" dirty="0">
                <a:solidFill>
                  <a:srgbClr val="ECECEC"/>
                </a:solidFill>
                <a:effectLst/>
                <a:latin typeface="Segoe UI Variable Text" pitchFamily="2" charset="0"/>
              </a:rPr>
              <a:t>. You might be wondering how we got those values."</a:t>
            </a:r>
          </a:p>
          <a:p>
            <a:pPr algn="l">
              <a:buFont typeface="Arial" panose="020B0604020202020204" pitchFamily="34" charset="0"/>
              <a:buChar char="•"/>
            </a:pPr>
            <a:r>
              <a:rPr lang="en-US" b="0" i="0" dirty="0">
                <a:solidFill>
                  <a:srgbClr val="ECECEC"/>
                </a:solidFill>
                <a:effectLst/>
                <a:latin typeface="Segoe UI Variable Text" pitchFamily="2" charset="0"/>
              </a:rPr>
              <a:t>"Some of you may already know about </a:t>
            </a:r>
            <a:r>
              <a:rPr lang="en-US" b="1" i="0" dirty="0">
                <a:solidFill>
                  <a:srgbClr val="ECECEC"/>
                </a:solidFill>
                <a:effectLst/>
                <a:latin typeface="Segoe UI Variable Text" pitchFamily="2" charset="0"/>
              </a:rPr>
              <a:t>JMP software</a:t>
            </a:r>
            <a:r>
              <a:rPr lang="en-US" b="0" i="0" dirty="0">
                <a:solidFill>
                  <a:srgbClr val="ECECEC"/>
                </a:solidFill>
                <a:effectLst/>
                <a:latin typeface="Segoe UI Variable Text" pitchFamily="2" charset="0"/>
              </a:rPr>
              <a:t>. For those who don’t, it’s an advanced statistical analysis tool that allows us to process and analyze sentiment data from a variety of sources—customer responses, reviews, feedback, you name it."</a:t>
            </a:r>
          </a:p>
          <a:p>
            <a:endParaRPr lang="en-IN" dirty="0"/>
          </a:p>
        </p:txBody>
      </p:sp>
      <p:sp>
        <p:nvSpPr>
          <p:cNvPr id="4" name="Slide Number Placeholder 3"/>
          <p:cNvSpPr>
            <a:spLocks noGrp="1"/>
          </p:cNvSpPr>
          <p:nvPr>
            <p:ph type="sldNum" sz="quarter" idx="5"/>
          </p:nvPr>
        </p:nvSpPr>
        <p:spPr/>
        <p:txBody>
          <a:bodyPr/>
          <a:lstStyle/>
          <a:p>
            <a:fld id="{DB3CB237-B8DA-4C93-BA98-77BC8808017B}" type="slidenum">
              <a:rPr lang="en-IN" smtClean="0"/>
              <a:t>1</a:t>
            </a:fld>
            <a:endParaRPr lang="en-IN"/>
          </a:p>
        </p:txBody>
      </p:sp>
    </p:spTree>
    <p:extLst>
      <p:ext uri="{BB962C8B-B14F-4D97-AF65-F5344CB8AC3E}">
        <p14:creationId xmlns:p14="http://schemas.microsoft.com/office/powerpoint/2010/main" val="1345360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C8E86-CF17-4F6C-AFA1-EB37773258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0AA4A8B-782B-7F5D-93ED-01C78BD765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492C05-EAFA-CEA9-5DF1-E7BC824F52A8}"/>
              </a:ext>
            </a:extLst>
          </p:cNvPr>
          <p:cNvSpPr>
            <a:spLocks noGrp="1"/>
          </p:cNvSpPr>
          <p:nvPr>
            <p:ph type="dt" sz="half" idx="10"/>
          </p:nvPr>
        </p:nvSpPr>
        <p:spPr/>
        <p:txBody>
          <a:bodyPr/>
          <a:lstStyle/>
          <a:p>
            <a:fld id="{A9C09083-CF6F-40E4-B367-8D4354E03BC3}" type="datetimeFigureOut">
              <a:rPr lang="en-IN" smtClean="0"/>
              <a:t>22-11-2024</a:t>
            </a:fld>
            <a:endParaRPr lang="en-IN"/>
          </a:p>
        </p:txBody>
      </p:sp>
      <p:sp>
        <p:nvSpPr>
          <p:cNvPr id="5" name="Footer Placeholder 4">
            <a:extLst>
              <a:ext uri="{FF2B5EF4-FFF2-40B4-BE49-F238E27FC236}">
                <a16:creationId xmlns:a16="http://schemas.microsoft.com/office/drawing/2014/main" id="{FA543C4D-54BF-61E1-3515-AF678D5F28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CB6710-3293-102D-EF78-A3B1CCD21D0F}"/>
              </a:ext>
            </a:extLst>
          </p:cNvPr>
          <p:cNvSpPr>
            <a:spLocks noGrp="1"/>
          </p:cNvSpPr>
          <p:nvPr>
            <p:ph type="sldNum" sz="quarter" idx="12"/>
          </p:nvPr>
        </p:nvSpPr>
        <p:spPr/>
        <p:txBody>
          <a:bodyPr/>
          <a:lstStyle/>
          <a:p>
            <a:fld id="{95197B89-99B5-46AF-B11C-7BB386C3B0CD}" type="slidenum">
              <a:rPr lang="en-IN" smtClean="0"/>
              <a:t>‹#›</a:t>
            </a:fld>
            <a:endParaRPr lang="en-IN"/>
          </a:p>
        </p:txBody>
      </p:sp>
    </p:spTree>
    <p:extLst>
      <p:ext uri="{BB962C8B-B14F-4D97-AF65-F5344CB8AC3E}">
        <p14:creationId xmlns:p14="http://schemas.microsoft.com/office/powerpoint/2010/main" val="1685879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A515B-C215-4D42-C5AA-8E85BDA540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7DC6291-EA44-93A4-DE73-B439E6726B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2843C3-C374-CDD9-1294-91F1517BBC7B}"/>
              </a:ext>
            </a:extLst>
          </p:cNvPr>
          <p:cNvSpPr>
            <a:spLocks noGrp="1"/>
          </p:cNvSpPr>
          <p:nvPr>
            <p:ph type="dt" sz="half" idx="10"/>
          </p:nvPr>
        </p:nvSpPr>
        <p:spPr/>
        <p:txBody>
          <a:bodyPr/>
          <a:lstStyle/>
          <a:p>
            <a:fld id="{A9C09083-CF6F-40E4-B367-8D4354E03BC3}" type="datetimeFigureOut">
              <a:rPr lang="en-IN" smtClean="0"/>
              <a:t>22-11-2024</a:t>
            </a:fld>
            <a:endParaRPr lang="en-IN"/>
          </a:p>
        </p:txBody>
      </p:sp>
      <p:sp>
        <p:nvSpPr>
          <p:cNvPr id="5" name="Footer Placeholder 4">
            <a:extLst>
              <a:ext uri="{FF2B5EF4-FFF2-40B4-BE49-F238E27FC236}">
                <a16:creationId xmlns:a16="http://schemas.microsoft.com/office/drawing/2014/main" id="{5BEEFEDB-D630-6BD5-835A-ADD08685DC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314712-9051-74CE-CB5E-C59DBD886EA1}"/>
              </a:ext>
            </a:extLst>
          </p:cNvPr>
          <p:cNvSpPr>
            <a:spLocks noGrp="1"/>
          </p:cNvSpPr>
          <p:nvPr>
            <p:ph type="sldNum" sz="quarter" idx="12"/>
          </p:nvPr>
        </p:nvSpPr>
        <p:spPr/>
        <p:txBody>
          <a:bodyPr/>
          <a:lstStyle/>
          <a:p>
            <a:fld id="{95197B89-99B5-46AF-B11C-7BB386C3B0CD}" type="slidenum">
              <a:rPr lang="en-IN" smtClean="0"/>
              <a:t>‹#›</a:t>
            </a:fld>
            <a:endParaRPr lang="en-IN"/>
          </a:p>
        </p:txBody>
      </p:sp>
    </p:spTree>
    <p:extLst>
      <p:ext uri="{BB962C8B-B14F-4D97-AF65-F5344CB8AC3E}">
        <p14:creationId xmlns:p14="http://schemas.microsoft.com/office/powerpoint/2010/main" val="4179137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B837E-CD18-0BE2-7645-F5EE3A0C15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6CB2AA2-43B4-308B-9CD5-AE27CFD284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0232C7-59AB-34C5-D80A-E4B7DB97C4FD}"/>
              </a:ext>
            </a:extLst>
          </p:cNvPr>
          <p:cNvSpPr>
            <a:spLocks noGrp="1"/>
          </p:cNvSpPr>
          <p:nvPr>
            <p:ph type="dt" sz="half" idx="10"/>
          </p:nvPr>
        </p:nvSpPr>
        <p:spPr/>
        <p:txBody>
          <a:bodyPr/>
          <a:lstStyle/>
          <a:p>
            <a:fld id="{A9C09083-CF6F-40E4-B367-8D4354E03BC3}" type="datetimeFigureOut">
              <a:rPr lang="en-IN" smtClean="0"/>
              <a:t>22-11-2024</a:t>
            </a:fld>
            <a:endParaRPr lang="en-IN"/>
          </a:p>
        </p:txBody>
      </p:sp>
      <p:sp>
        <p:nvSpPr>
          <p:cNvPr id="5" name="Footer Placeholder 4">
            <a:extLst>
              <a:ext uri="{FF2B5EF4-FFF2-40B4-BE49-F238E27FC236}">
                <a16:creationId xmlns:a16="http://schemas.microsoft.com/office/drawing/2014/main" id="{4E33A890-CB09-5345-5783-3368D1DFB9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A052DB-317A-4122-5F12-D46661EB7361}"/>
              </a:ext>
            </a:extLst>
          </p:cNvPr>
          <p:cNvSpPr>
            <a:spLocks noGrp="1"/>
          </p:cNvSpPr>
          <p:nvPr>
            <p:ph type="sldNum" sz="quarter" idx="12"/>
          </p:nvPr>
        </p:nvSpPr>
        <p:spPr/>
        <p:txBody>
          <a:bodyPr/>
          <a:lstStyle/>
          <a:p>
            <a:fld id="{95197B89-99B5-46AF-B11C-7BB386C3B0CD}" type="slidenum">
              <a:rPr lang="en-IN" smtClean="0"/>
              <a:t>‹#›</a:t>
            </a:fld>
            <a:endParaRPr lang="en-IN"/>
          </a:p>
        </p:txBody>
      </p:sp>
    </p:spTree>
    <p:extLst>
      <p:ext uri="{BB962C8B-B14F-4D97-AF65-F5344CB8AC3E}">
        <p14:creationId xmlns:p14="http://schemas.microsoft.com/office/powerpoint/2010/main" val="3264270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B5C3D-3C9B-83C9-B4A1-E63BCEAE7D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FA2765-E7A7-8877-2F23-577D213DCA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B85BA46-677C-5472-9FF2-B801A4149A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1C1DB2-4A27-250D-9105-E6C9933A8F2A}"/>
              </a:ext>
            </a:extLst>
          </p:cNvPr>
          <p:cNvSpPr>
            <a:spLocks noGrp="1"/>
          </p:cNvSpPr>
          <p:nvPr>
            <p:ph type="dt" sz="half" idx="10"/>
          </p:nvPr>
        </p:nvSpPr>
        <p:spPr/>
        <p:txBody>
          <a:bodyPr/>
          <a:lstStyle/>
          <a:p>
            <a:fld id="{A9C09083-CF6F-40E4-B367-8D4354E03BC3}" type="datetimeFigureOut">
              <a:rPr lang="en-IN" smtClean="0"/>
              <a:t>22-11-2024</a:t>
            </a:fld>
            <a:endParaRPr lang="en-IN"/>
          </a:p>
        </p:txBody>
      </p:sp>
      <p:sp>
        <p:nvSpPr>
          <p:cNvPr id="6" name="Footer Placeholder 5">
            <a:extLst>
              <a:ext uri="{FF2B5EF4-FFF2-40B4-BE49-F238E27FC236}">
                <a16:creationId xmlns:a16="http://schemas.microsoft.com/office/drawing/2014/main" id="{D8997E55-5DE6-C0E0-ED80-25721EDA2C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0B7231-6BDA-5FD0-D442-ADF3D365B566}"/>
              </a:ext>
            </a:extLst>
          </p:cNvPr>
          <p:cNvSpPr>
            <a:spLocks noGrp="1"/>
          </p:cNvSpPr>
          <p:nvPr>
            <p:ph type="sldNum" sz="quarter" idx="12"/>
          </p:nvPr>
        </p:nvSpPr>
        <p:spPr/>
        <p:txBody>
          <a:bodyPr/>
          <a:lstStyle/>
          <a:p>
            <a:fld id="{95197B89-99B5-46AF-B11C-7BB386C3B0CD}" type="slidenum">
              <a:rPr lang="en-IN" smtClean="0"/>
              <a:t>‹#›</a:t>
            </a:fld>
            <a:endParaRPr lang="en-IN"/>
          </a:p>
        </p:txBody>
      </p:sp>
    </p:spTree>
    <p:extLst>
      <p:ext uri="{BB962C8B-B14F-4D97-AF65-F5344CB8AC3E}">
        <p14:creationId xmlns:p14="http://schemas.microsoft.com/office/powerpoint/2010/main" val="2694165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BD63C-38CF-2FAC-8225-ACD78FA49CD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5EBDD2-F5CB-83E5-4256-00EE0A4E68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E90374-52EC-87A9-5C73-4AC61A0487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1E14074-81FC-85A1-533B-4EB894205B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210091-A122-8CD0-7B0A-51D7EE77E2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29C60D-D024-D0FF-4B9B-34A9E86FD184}"/>
              </a:ext>
            </a:extLst>
          </p:cNvPr>
          <p:cNvSpPr>
            <a:spLocks noGrp="1"/>
          </p:cNvSpPr>
          <p:nvPr>
            <p:ph type="dt" sz="half" idx="10"/>
          </p:nvPr>
        </p:nvSpPr>
        <p:spPr/>
        <p:txBody>
          <a:bodyPr/>
          <a:lstStyle/>
          <a:p>
            <a:fld id="{A9C09083-CF6F-40E4-B367-8D4354E03BC3}" type="datetimeFigureOut">
              <a:rPr lang="en-IN" smtClean="0"/>
              <a:t>22-11-2024</a:t>
            </a:fld>
            <a:endParaRPr lang="en-IN"/>
          </a:p>
        </p:txBody>
      </p:sp>
      <p:sp>
        <p:nvSpPr>
          <p:cNvPr id="8" name="Footer Placeholder 7">
            <a:extLst>
              <a:ext uri="{FF2B5EF4-FFF2-40B4-BE49-F238E27FC236}">
                <a16:creationId xmlns:a16="http://schemas.microsoft.com/office/drawing/2014/main" id="{94196C1C-9C70-2411-9C46-2DB1355D6FD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FA36F7-04FC-D681-022C-205040AE2DAA}"/>
              </a:ext>
            </a:extLst>
          </p:cNvPr>
          <p:cNvSpPr>
            <a:spLocks noGrp="1"/>
          </p:cNvSpPr>
          <p:nvPr>
            <p:ph type="sldNum" sz="quarter" idx="12"/>
          </p:nvPr>
        </p:nvSpPr>
        <p:spPr/>
        <p:txBody>
          <a:bodyPr/>
          <a:lstStyle/>
          <a:p>
            <a:fld id="{95197B89-99B5-46AF-B11C-7BB386C3B0CD}" type="slidenum">
              <a:rPr lang="en-IN" smtClean="0"/>
              <a:t>‹#›</a:t>
            </a:fld>
            <a:endParaRPr lang="en-IN"/>
          </a:p>
        </p:txBody>
      </p:sp>
    </p:spTree>
    <p:extLst>
      <p:ext uri="{BB962C8B-B14F-4D97-AF65-F5344CB8AC3E}">
        <p14:creationId xmlns:p14="http://schemas.microsoft.com/office/powerpoint/2010/main" val="2349236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E8C6-47BB-CAE3-D03F-5FAE2570740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81D13DA-F34B-0492-9A45-F12F2BAF1959}"/>
              </a:ext>
            </a:extLst>
          </p:cNvPr>
          <p:cNvSpPr>
            <a:spLocks noGrp="1"/>
          </p:cNvSpPr>
          <p:nvPr>
            <p:ph type="dt" sz="half" idx="10"/>
          </p:nvPr>
        </p:nvSpPr>
        <p:spPr/>
        <p:txBody>
          <a:bodyPr/>
          <a:lstStyle/>
          <a:p>
            <a:fld id="{A9C09083-CF6F-40E4-B367-8D4354E03BC3}" type="datetimeFigureOut">
              <a:rPr lang="en-IN" smtClean="0"/>
              <a:t>22-11-2024</a:t>
            </a:fld>
            <a:endParaRPr lang="en-IN"/>
          </a:p>
        </p:txBody>
      </p:sp>
      <p:sp>
        <p:nvSpPr>
          <p:cNvPr id="4" name="Footer Placeholder 3">
            <a:extLst>
              <a:ext uri="{FF2B5EF4-FFF2-40B4-BE49-F238E27FC236}">
                <a16:creationId xmlns:a16="http://schemas.microsoft.com/office/drawing/2014/main" id="{3D5448AA-33D7-8C0F-7F34-7A61E4925E4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BA760E3-1FD6-5EB4-73E8-36CA1144567B}"/>
              </a:ext>
            </a:extLst>
          </p:cNvPr>
          <p:cNvSpPr>
            <a:spLocks noGrp="1"/>
          </p:cNvSpPr>
          <p:nvPr>
            <p:ph type="sldNum" sz="quarter" idx="12"/>
          </p:nvPr>
        </p:nvSpPr>
        <p:spPr/>
        <p:txBody>
          <a:bodyPr/>
          <a:lstStyle/>
          <a:p>
            <a:fld id="{95197B89-99B5-46AF-B11C-7BB386C3B0CD}" type="slidenum">
              <a:rPr lang="en-IN" smtClean="0"/>
              <a:t>‹#›</a:t>
            </a:fld>
            <a:endParaRPr lang="en-IN"/>
          </a:p>
        </p:txBody>
      </p:sp>
    </p:spTree>
    <p:extLst>
      <p:ext uri="{BB962C8B-B14F-4D97-AF65-F5344CB8AC3E}">
        <p14:creationId xmlns:p14="http://schemas.microsoft.com/office/powerpoint/2010/main" val="3147103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E7203E-E0D9-7C41-2D39-593FF4B2570D}"/>
              </a:ext>
            </a:extLst>
          </p:cNvPr>
          <p:cNvSpPr>
            <a:spLocks noGrp="1"/>
          </p:cNvSpPr>
          <p:nvPr>
            <p:ph type="dt" sz="half" idx="10"/>
          </p:nvPr>
        </p:nvSpPr>
        <p:spPr/>
        <p:txBody>
          <a:bodyPr/>
          <a:lstStyle/>
          <a:p>
            <a:fld id="{A9C09083-CF6F-40E4-B367-8D4354E03BC3}" type="datetimeFigureOut">
              <a:rPr lang="en-IN" smtClean="0"/>
              <a:t>22-11-2024</a:t>
            </a:fld>
            <a:endParaRPr lang="en-IN"/>
          </a:p>
        </p:txBody>
      </p:sp>
      <p:sp>
        <p:nvSpPr>
          <p:cNvPr id="3" name="Footer Placeholder 2">
            <a:extLst>
              <a:ext uri="{FF2B5EF4-FFF2-40B4-BE49-F238E27FC236}">
                <a16:creationId xmlns:a16="http://schemas.microsoft.com/office/drawing/2014/main" id="{CC83DA16-6504-D9CE-BF0F-2F588560598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D9F7779-6B2D-1FDA-AC30-16E959248E06}"/>
              </a:ext>
            </a:extLst>
          </p:cNvPr>
          <p:cNvSpPr>
            <a:spLocks noGrp="1"/>
          </p:cNvSpPr>
          <p:nvPr>
            <p:ph type="sldNum" sz="quarter" idx="12"/>
          </p:nvPr>
        </p:nvSpPr>
        <p:spPr/>
        <p:txBody>
          <a:bodyPr/>
          <a:lstStyle/>
          <a:p>
            <a:fld id="{95197B89-99B5-46AF-B11C-7BB386C3B0CD}" type="slidenum">
              <a:rPr lang="en-IN" smtClean="0"/>
              <a:t>‹#›</a:t>
            </a:fld>
            <a:endParaRPr lang="en-IN"/>
          </a:p>
        </p:txBody>
      </p:sp>
    </p:spTree>
    <p:extLst>
      <p:ext uri="{BB962C8B-B14F-4D97-AF65-F5344CB8AC3E}">
        <p14:creationId xmlns:p14="http://schemas.microsoft.com/office/powerpoint/2010/main" val="661957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51778-EEC9-8265-E6DF-B0659E78AB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A4D3547-7D41-7BD5-5846-E2391CEE51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D3B031-2C0E-62AE-341E-AB3C2EB4BE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CBA2E1-DBFC-934F-A2B6-C6C3C5C9C9D1}"/>
              </a:ext>
            </a:extLst>
          </p:cNvPr>
          <p:cNvSpPr>
            <a:spLocks noGrp="1"/>
          </p:cNvSpPr>
          <p:nvPr>
            <p:ph type="dt" sz="half" idx="10"/>
          </p:nvPr>
        </p:nvSpPr>
        <p:spPr/>
        <p:txBody>
          <a:bodyPr/>
          <a:lstStyle/>
          <a:p>
            <a:fld id="{A9C09083-CF6F-40E4-B367-8D4354E03BC3}" type="datetimeFigureOut">
              <a:rPr lang="en-IN" smtClean="0"/>
              <a:t>22-11-2024</a:t>
            </a:fld>
            <a:endParaRPr lang="en-IN"/>
          </a:p>
        </p:txBody>
      </p:sp>
      <p:sp>
        <p:nvSpPr>
          <p:cNvPr id="6" name="Footer Placeholder 5">
            <a:extLst>
              <a:ext uri="{FF2B5EF4-FFF2-40B4-BE49-F238E27FC236}">
                <a16:creationId xmlns:a16="http://schemas.microsoft.com/office/drawing/2014/main" id="{7F177361-9274-62DF-55EA-0CA21F7298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365EFA-44B1-FE65-2E2A-7F7E46A1FC3C}"/>
              </a:ext>
            </a:extLst>
          </p:cNvPr>
          <p:cNvSpPr>
            <a:spLocks noGrp="1"/>
          </p:cNvSpPr>
          <p:nvPr>
            <p:ph type="sldNum" sz="quarter" idx="12"/>
          </p:nvPr>
        </p:nvSpPr>
        <p:spPr/>
        <p:txBody>
          <a:bodyPr/>
          <a:lstStyle/>
          <a:p>
            <a:fld id="{95197B89-99B5-46AF-B11C-7BB386C3B0CD}" type="slidenum">
              <a:rPr lang="en-IN" smtClean="0"/>
              <a:t>‹#›</a:t>
            </a:fld>
            <a:endParaRPr lang="en-IN"/>
          </a:p>
        </p:txBody>
      </p:sp>
    </p:spTree>
    <p:extLst>
      <p:ext uri="{BB962C8B-B14F-4D97-AF65-F5344CB8AC3E}">
        <p14:creationId xmlns:p14="http://schemas.microsoft.com/office/powerpoint/2010/main" val="215493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9D6BA-4085-4E35-9773-4061710659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C873D7D-F386-5D84-EAEB-52A7143EC8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F5D1E17-AEE7-3569-7015-FCA8DE95C5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09DEB1-F88E-3447-FBBC-DA92132A48AA}"/>
              </a:ext>
            </a:extLst>
          </p:cNvPr>
          <p:cNvSpPr>
            <a:spLocks noGrp="1"/>
          </p:cNvSpPr>
          <p:nvPr>
            <p:ph type="dt" sz="half" idx="10"/>
          </p:nvPr>
        </p:nvSpPr>
        <p:spPr/>
        <p:txBody>
          <a:bodyPr/>
          <a:lstStyle/>
          <a:p>
            <a:fld id="{A9C09083-CF6F-40E4-B367-8D4354E03BC3}" type="datetimeFigureOut">
              <a:rPr lang="en-IN" smtClean="0"/>
              <a:t>22-11-2024</a:t>
            </a:fld>
            <a:endParaRPr lang="en-IN"/>
          </a:p>
        </p:txBody>
      </p:sp>
      <p:sp>
        <p:nvSpPr>
          <p:cNvPr id="6" name="Footer Placeholder 5">
            <a:extLst>
              <a:ext uri="{FF2B5EF4-FFF2-40B4-BE49-F238E27FC236}">
                <a16:creationId xmlns:a16="http://schemas.microsoft.com/office/drawing/2014/main" id="{61CB27E9-69FF-97C3-CE15-A7F4A77955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CAD34F-67EE-98B8-6DFF-DC721F0A32DB}"/>
              </a:ext>
            </a:extLst>
          </p:cNvPr>
          <p:cNvSpPr>
            <a:spLocks noGrp="1"/>
          </p:cNvSpPr>
          <p:nvPr>
            <p:ph type="sldNum" sz="quarter" idx="12"/>
          </p:nvPr>
        </p:nvSpPr>
        <p:spPr/>
        <p:txBody>
          <a:bodyPr/>
          <a:lstStyle/>
          <a:p>
            <a:fld id="{95197B89-99B5-46AF-B11C-7BB386C3B0CD}" type="slidenum">
              <a:rPr lang="en-IN" smtClean="0"/>
              <a:t>‹#›</a:t>
            </a:fld>
            <a:endParaRPr lang="en-IN"/>
          </a:p>
        </p:txBody>
      </p:sp>
    </p:spTree>
    <p:extLst>
      <p:ext uri="{BB962C8B-B14F-4D97-AF65-F5344CB8AC3E}">
        <p14:creationId xmlns:p14="http://schemas.microsoft.com/office/powerpoint/2010/main" val="731855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14A5-6C72-B067-B6B6-DA7228DE571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4C5E60-45F2-705C-300A-A9D29E3CEF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BB366C-B72F-9E1C-E1E8-883F515CCF05}"/>
              </a:ext>
            </a:extLst>
          </p:cNvPr>
          <p:cNvSpPr>
            <a:spLocks noGrp="1"/>
          </p:cNvSpPr>
          <p:nvPr>
            <p:ph type="dt" sz="half" idx="10"/>
          </p:nvPr>
        </p:nvSpPr>
        <p:spPr/>
        <p:txBody>
          <a:bodyPr/>
          <a:lstStyle/>
          <a:p>
            <a:fld id="{A9C09083-CF6F-40E4-B367-8D4354E03BC3}" type="datetimeFigureOut">
              <a:rPr lang="en-IN" smtClean="0"/>
              <a:t>22-11-2024</a:t>
            </a:fld>
            <a:endParaRPr lang="en-IN"/>
          </a:p>
        </p:txBody>
      </p:sp>
      <p:sp>
        <p:nvSpPr>
          <p:cNvPr id="5" name="Footer Placeholder 4">
            <a:extLst>
              <a:ext uri="{FF2B5EF4-FFF2-40B4-BE49-F238E27FC236}">
                <a16:creationId xmlns:a16="http://schemas.microsoft.com/office/drawing/2014/main" id="{55006827-8567-CC7F-740F-B1E23E9FC4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C77F09-F0CB-0E15-8492-9929ED10DD06}"/>
              </a:ext>
            </a:extLst>
          </p:cNvPr>
          <p:cNvSpPr>
            <a:spLocks noGrp="1"/>
          </p:cNvSpPr>
          <p:nvPr>
            <p:ph type="sldNum" sz="quarter" idx="12"/>
          </p:nvPr>
        </p:nvSpPr>
        <p:spPr/>
        <p:txBody>
          <a:bodyPr/>
          <a:lstStyle/>
          <a:p>
            <a:fld id="{95197B89-99B5-46AF-B11C-7BB386C3B0CD}" type="slidenum">
              <a:rPr lang="en-IN" smtClean="0"/>
              <a:t>‹#›</a:t>
            </a:fld>
            <a:endParaRPr lang="en-IN"/>
          </a:p>
        </p:txBody>
      </p:sp>
    </p:spTree>
    <p:extLst>
      <p:ext uri="{BB962C8B-B14F-4D97-AF65-F5344CB8AC3E}">
        <p14:creationId xmlns:p14="http://schemas.microsoft.com/office/powerpoint/2010/main" val="3085660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912C59-B8FD-E580-92FC-528A69D9B7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95DF9F-A284-E5FC-16F8-A24235190B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E08892-96E5-B2BF-92E7-C19C0262A071}"/>
              </a:ext>
            </a:extLst>
          </p:cNvPr>
          <p:cNvSpPr>
            <a:spLocks noGrp="1"/>
          </p:cNvSpPr>
          <p:nvPr>
            <p:ph type="dt" sz="half" idx="10"/>
          </p:nvPr>
        </p:nvSpPr>
        <p:spPr/>
        <p:txBody>
          <a:bodyPr/>
          <a:lstStyle/>
          <a:p>
            <a:fld id="{A9C09083-CF6F-40E4-B367-8D4354E03BC3}" type="datetimeFigureOut">
              <a:rPr lang="en-IN" smtClean="0"/>
              <a:t>22-11-2024</a:t>
            </a:fld>
            <a:endParaRPr lang="en-IN"/>
          </a:p>
        </p:txBody>
      </p:sp>
      <p:sp>
        <p:nvSpPr>
          <p:cNvPr id="5" name="Footer Placeholder 4">
            <a:extLst>
              <a:ext uri="{FF2B5EF4-FFF2-40B4-BE49-F238E27FC236}">
                <a16:creationId xmlns:a16="http://schemas.microsoft.com/office/drawing/2014/main" id="{9725C7F7-9064-8CFF-0B48-A4D8AF1A94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A2EFC8-7700-7C64-F392-7DF8046DB16C}"/>
              </a:ext>
            </a:extLst>
          </p:cNvPr>
          <p:cNvSpPr>
            <a:spLocks noGrp="1"/>
          </p:cNvSpPr>
          <p:nvPr>
            <p:ph type="sldNum" sz="quarter" idx="12"/>
          </p:nvPr>
        </p:nvSpPr>
        <p:spPr/>
        <p:txBody>
          <a:bodyPr/>
          <a:lstStyle/>
          <a:p>
            <a:fld id="{95197B89-99B5-46AF-B11C-7BB386C3B0CD}" type="slidenum">
              <a:rPr lang="en-IN" smtClean="0"/>
              <a:t>‹#›</a:t>
            </a:fld>
            <a:endParaRPr lang="en-IN"/>
          </a:p>
        </p:txBody>
      </p:sp>
    </p:spTree>
    <p:extLst>
      <p:ext uri="{BB962C8B-B14F-4D97-AF65-F5344CB8AC3E}">
        <p14:creationId xmlns:p14="http://schemas.microsoft.com/office/powerpoint/2010/main" val="4106138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2256BC-2DCC-55B0-B847-0F5A5CA157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7B667F-ED5B-20C8-0458-480824C835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AB4DFF-FA19-2E5B-BC94-2ADB78640B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C09083-CF6F-40E4-B367-8D4354E03BC3}" type="datetimeFigureOut">
              <a:rPr lang="en-IN" smtClean="0"/>
              <a:t>22-11-2024</a:t>
            </a:fld>
            <a:endParaRPr lang="en-IN"/>
          </a:p>
        </p:txBody>
      </p:sp>
      <p:sp>
        <p:nvSpPr>
          <p:cNvPr id="5" name="Footer Placeholder 4">
            <a:extLst>
              <a:ext uri="{FF2B5EF4-FFF2-40B4-BE49-F238E27FC236}">
                <a16:creationId xmlns:a16="http://schemas.microsoft.com/office/drawing/2014/main" id="{663D0209-5628-461F-C8CD-C3C07E56CA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A305349-F3FD-067A-6C77-A40C361700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197B89-99B5-46AF-B11C-7BB386C3B0CD}" type="slidenum">
              <a:rPr lang="en-IN" smtClean="0"/>
              <a:t>‹#›</a:t>
            </a:fld>
            <a:endParaRPr lang="en-IN"/>
          </a:p>
        </p:txBody>
      </p:sp>
    </p:spTree>
    <p:extLst>
      <p:ext uri="{BB962C8B-B14F-4D97-AF65-F5344CB8AC3E}">
        <p14:creationId xmlns:p14="http://schemas.microsoft.com/office/powerpoint/2010/main" val="3624651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84DF55BE-B4AB-4BA1-BDE1-E9F7FB3F1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0ED275-0A07-F4C2-AECD-8ABA4D25B23E}"/>
              </a:ext>
            </a:extLst>
          </p:cNvPr>
          <p:cNvSpPr>
            <a:spLocks noGrp="1"/>
          </p:cNvSpPr>
          <p:nvPr>
            <p:ph type="title"/>
          </p:nvPr>
        </p:nvSpPr>
        <p:spPr>
          <a:xfrm>
            <a:off x="841249" y="539578"/>
            <a:ext cx="5981278" cy="1684638"/>
          </a:xfrm>
        </p:spPr>
        <p:txBody>
          <a:bodyPr>
            <a:normAutofit/>
          </a:bodyPr>
          <a:lstStyle/>
          <a:p>
            <a:r>
              <a:rPr lang="en-IN" sz="4000" dirty="0"/>
              <a:t>Sentimental analysis</a:t>
            </a:r>
          </a:p>
        </p:txBody>
      </p:sp>
      <p:sp>
        <p:nvSpPr>
          <p:cNvPr id="3" name="Content Placeholder 2">
            <a:extLst>
              <a:ext uri="{FF2B5EF4-FFF2-40B4-BE49-F238E27FC236}">
                <a16:creationId xmlns:a16="http://schemas.microsoft.com/office/drawing/2014/main" id="{95EDD39F-7610-6050-D960-9B72CAF44CC9}"/>
              </a:ext>
            </a:extLst>
          </p:cNvPr>
          <p:cNvSpPr>
            <a:spLocks noGrp="1"/>
          </p:cNvSpPr>
          <p:nvPr>
            <p:ph idx="1"/>
          </p:nvPr>
        </p:nvSpPr>
        <p:spPr>
          <a:xfrm>
            <a:off x="838201" y="2409568"/>
            <a:ext cx="5981278" cy="3690551"/>
          </a:xfrm>
        </p:spPr>
        <p:txBody>
          <a:bodyPr>
            <a:normAutofit/>
          </a:bodyPr>
          <a:lstStyle/>
          <a:p>
            <a:pPr marL="0" indent="0">
              <a:buNone/>
            </a:pPr>
            <a:r>
              <a:rPr lang="en-IN" sz="2000" dirty="0"/>
              <a:t>          Categorizing Sentimental score</a:t>
            </a:r>
          </a:p>
          <a:p>
            <a:pPr marL="0" indent="0">
              <a:buNone/>
            </a:pPr>
            <a:r>
              <a:rPr lang="en-US" sz="2000" dirty="0"/>
              <a:t>Based on the existing sentimental score, a separate column was created.</a:t>
            </a:r>
          </a:p>
          <a:p>
            <a:pPr marL="0" indent="0">
              <a:buNone/>
            </a:pPr>
            <a:r>
              <a:rPr lang="en-US" sz="2000" dirty="0"/>
              <a:t>	-1 </a:t>
            </a:r>
            <a:r>
              <a:rPr lang="en-US" sz="2000" dirty="0">
                <a:sym typeface="Wingdings" panose="05000000000000000000" pitchFamily="2" charset="2"/>
              </a:rPr>
              <a:t> Disastrous</a:t>
            </a:r>
          </a:p>
          <a:p>
            <a:pPr marL="0" indent="0">
              <a:buNone/>
            </a:pPr>
            <a:r>
              <a:rPr lang="en-US" sz="2000" dirty="0">
                <a:sym typeface="Wingdings" panose="05000000000000000000" pitchFamily="2" charset="2"/>
              </a:rPr>
              <a:t>	+1 Masterpiece</a:t>
            </a:r>
            <a:endParaRPr lang="en-IN" sz="2000" dirty="0">
              <a:sym typeface="Wingdings" panose="05000000000000000000" pitchFamily="2" charset="2"/>
            </a:endParaRPr>
          </a:p>
          <a:p>
            <a:pPr marL="0" indent="0">
              <a:buNone/>
            </a:pPr>
            <a:endParaRPr lang="en-IN" sz="2000" dirty="0"/>
          </a:p>
          <a:p>
            <a:pPr marL="457200" lvl="1" indent="0">
              <a:buNone/>
            </a:pPr>
            <a:r>
              <a:rPr lang="en-IN" sz="2000" dirty="0"/>
              <a:t>	Advanced Sentiment Analysis</a:t>
            </a:r>
          </a:p>
          <a:p>
            <a:pPr marL="457200" lvl="1" indent="0">
              <a:buNone/>
            </a:pPr>
            <a:r>
              <a:rPr lang="en-US" sz="2000" dirty="0"/>
              <a:t>"JMP Pro 17 was utilized for analyzing sentiment values."</a:t>
            </a:r>
          </a:p>
          <a:p>
            <a:pPr marL="457200" lvl="1" indent="0">
              <a:buNone/>
            </a:pPr>
            <a:r>
              <a:rPr lang="en-US" sz="2000" dirty="0"/>
              <a:t>Identify word-level sentiment impact.</a:t>
            </a:r>
            <a:endParaRPr lang="en-IN" sz="2000" dirty="0"/>
          </a:p>
        </p:txBody>
      </p:sp>
      <p:pic>
        <p:nvPicPr>
          <p:cNvPr id="1026" name="Picture 2" descr="JMP Genomics logo">
            <a:extLst>
              <a:ext uri="{FF2B5EF4-FFF2-40B4-BE49-F238E27FC236}">
                <a16:creationId xmlns:a16="http://schemas.microsoft.com/office/drawing/2014/main" id="{3F644D7D-A018-732A-FC5B-BEBE7588F93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199726" y="1381897"/>
            <a:ext cx="2605929" cy="2631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6502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84DF55BE-B4AB-4BA1-BDE1-E9F7FB3F1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223C4F-5368-D3B3-3F3F-3A1901AEACF2}"/>
              </a:ext>
            </a:extLst>
          </p:cNvPr>
          <p:cNvSpPr>
            <a:spLocks noGrp="1"/>
          </p:cNvSpPr>
          <p:nvPr>
            <p:ph type="title"/>
          </p:nvPr>
        </p:nvSpPr>
        <p:spPr>
          <a:xfrm>
            <a:off x="841249" y="539578"/>
            <a:ext cx="5981278" cy="1684638"/>
          </a:xfrm>
        </p:spPr>
        <p:txBody>
          <a:bodyPr>
            <a:normAutofit/>
          </a:bodyPr>
          <a:lstStyle/>
          <a:p>
            <a:r>
              <a:rPr lang="en-IN" sz="4000" dirty="0"/>
              <a:t>Building a Predictive Model</a:t>
            </a:r>
          </a:p>
        </p:txBody>
      </p:sp>
      <p:sp>
        <p:nvSpPr>
          <p:cNvPr id="3" name="Content Placeholder 2">
            <a:extLst>
              <a:ext uri="{FF2B5EF4-FFF2-40B4-BE49-F238E27FC236}">
                <a16:creationId xmlns:a16="http://schemas.microsoft.com/office/drawing/2014/main" id="{228B22B7-DAA8-7CDA-3703-CD99F9AD798B}"/>
              </a:ext>
            </a:extLst>
          </p:cNvPr>
          <p:cNvSpPr>
            <a:spLocks noGrp="1"/>
          </p:cNvSpPr>
          <p:nvPr>
            <p:ph idx="1"/>
          </p:nvPr>
        </p:nvSpPr>
        <p:spPr>
          <a:xfrm>
            <a:off x="838201" y="2409568"/>
            <a:ext cx="5981278" cy="3690551"/>
          </a:xfrm>
        </p:spPr>
        <p:txBody>
          <a:bodyPr>
            <a:normAutofit/>
          </a:bodyPr>
          <a:lstStyle/>
          <a:p>
            <a:r>
              <a:rPr lang="en-US" sz="2000" dirty="0"/>
              <a:t>Analyzed frequently used words to understand their influence on sentiment.</a:t>
            </a:r>
          </a:p>
          <a:p>
            <a:r>
              <a:rPr lang="en-US" sz="2000" dirty="0"/>
              <a:t>Created a logistic regression model using 100 randomly selected movies.</a:t>
            </a:r>
          </a:p>
          <a:p>
            <a:r>
              <a:rPr lang="en-US" sz="2000" dirty="0"/>
              <a:t>Classified sentiment into two categories:</a:t>
            </a:r>
          </a:p>
          <a:p>
            <a:pPr lvl="1"/>
            <a:r>
              <a:rPr lang="en-US" sz="1600" dirty="0"/>
              <a:t>In Favor: Positive emotional.</a:t>
            </a:r>
          </a:p>
          <a:p>
            <a:pPr lvl="1"/>
            <a:r>
              <a:rPr lang="en-US" sz="1600" dirty="0"/>
              <a:t>Opposed: Negative emotional.</a:t>
            </a:r>
          </a:p>
        </p:txBody>
      </p:sp>
      <p:pic>
        <p:nvPicPr>
          <p:cNvPr id="5" name="Picture 4" descr="A screenshot of a computer&#10;&#10;Description automatically generated">
            <a:extLst>
              <a:ext uri="{FF2B5EF4-FFF2-40B4-BE49-F238E27FC236}">
                <a16:creationId xmlns:a16="http://schemas.microsoft.com/office/drawing/2014/main" id="{C8E3BA5F-75A5-A1B0-05E6-6D7A682ABA54}"/>
              </a:ext>
            </a:extLst>
          </p:cNvPr>
          <p:cNvPicPr>
            <a:picLocks noChangeAspect="1"/>
          </p:cNvPicPr>
          <p:nvPr/>
        </p:nvPicPr>
        <p:blipFill>
          <a:blip r:embed="rId2"/>
          <a:stretch>
            <a:fillRect/>
          </a:stretch>
        </p:blipFill>
        <p:spPr>
          <a:xfrm>
            <a:off x="7097254" y="1568156"/>
            <a:ext cx="4810874" cy="2045705"/>
          </a:xfrm>
          <a:prstGeom prst="rect">
            <a:avLst/>
          </a:prstGeom>
        </p:spPr>
      </p:pic>
      <p:graphicFrame>
        <p:nvGraphicFramePr>
          <p:cNvPr id="8" name="Table 7">
            <a:extLst>
              <a:ext uri="{FF2B5EF4-FFF2-40B4-BE49-F238E27FC236}">
                <a16:creationId xmlns:a16="http://schemas.microsoft.com/office/drawing/2014/main" id="{F94FFFFD-DD5C-0677-0450-14FAA692BC61}"/>
              </a:ext>
            </a:extLst>
          </p:cNvPr>
          <p:cNvGraphicFramePr>
            <a:graphicFrameLocks noGrp="1"/>
          </p:cNvGraphicFramePr>
          <p:nvPr>
            <p:extLst>
              <p:ext uri="{D42A27DB-BD31-4B8C-83A1-F6EECF244321}">
                <p14:modId xmlns:p14="http://schemas.microsoft.com/office/powerpoint/2010/main" val="1080502294"/>
              </p:ext>
            </p:extLst>
          </p:nvPr>
        </p:nvGraphicFramePr>
        <p:xfrm>
          <a:off x="7098777" y="4266991"/>
          <a:ext cx="4810875" cy="1833128"/>
        </p:xfrm>
        <a:graphic>
          <a:graphicData uri="http://schemas.openxmlformats.org/drawingml/2006/table">
            <a:tbl>
              <a:tblPr firstRow="1" bandRow="1">
                <a:tableStyleId>{5C22544A-7EE6-4342-B048-85BDC9FD1C3A}</a:tableStyleId>
              </a:tblPr>
              <a:tblGrid>
                <a:gridCol w="768307">
                  <a:extLst>
                    <a:ext uri="{9D8B030D-6E8A-4147-A177-3AD203B41FA5}">
                      <a16:colId xmlns:a16="http://schemas.microsoft.com/office/drawing/2014/main" val="553658811"/>
                    </a:ext>
                  </a:extLst>
                </a:gridCol>
                <a:gridCol w="4042568">
                  <a:extLst>
                    <a:ext uri="{9D8B030D-6E8A-4147-A177-3AD203B41FA5}">
                      <a16:colId xmlns:a16="http://schemas.microsoft.com/office/drawing/2014/main" val="2158991613"/>
                    </a:ext>
                  </a:extLst>
                </a:gridCol>
              </a:tblGrid>
              <a:tr h="242627">
                <a:tc>
                  <a:txBody>
                    <a:bodyPr/>
                    <a:lstStyle/>
                    <a:p>
                      <a:pPr algn="ctr" fontAlgn="b"/>
                      <a:r>
                        <a:rPr lang="en-IN" sz="1300" u="none" strike="noStrike" dirty="0">
                          <a:effectLst/>
                        </a:rPr>
                        <a:t>Title</a:t>
                      </a:r>
                      <a:endParaRPr lang="en-IN" sz="1300" b="0" i="0" u="none" strike="noStrike" dirty="0">
                        <a:solidFill>
                          <a:srgbClr val="000000"/>
                        </a:solidFill>
                        <a:effectLst/>
                        <a:latin typeface="Aptos Narrow" panose="020B0004020202020204" pitchFamily="34" charset="0"/>
                      </a:endParaRPr>
                    </a:p>
                  </a:txBody>
                  <a:tcPr marL="5541" marR="5541" marT="5541"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fontAlgn="b"/>
                      <a:r>
                        <a:rPr lang="en-IN" sz="1300" u="none" strike="noStrike" dirty="0">
                          <a:effectLst/>
                        </a:rPr>
                        <a:t>words</a:t>
                      </a:r>
                      <a:endParaRPr lang="en-IN" sz="1300" b="0" i="0" u="none" strike="noStrike" dirty="0">
                        <a:solidFill>
                          <a:srgbClr val="000000"/>
                        </a:solidFill>
                        <a:effectLst/>
                        <a:latin typeface="Aptos Narrow" panose="020B0004020202020204" pitchFamily="34" charset="0"/>
                      </a:endParaRPr>
                    </a:p>
                  </a:txBody>
                  <a:tcPr marL="5541" marR="5541" marT="5541"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537801892"/>
                  </a:ext>
                </a:extLst>
              </a:tr>
              <a:tr h="1581012">
                <a:tc>
                  <a:txBody>
                    <a:bodyPr/>
                    <a:lstStyle/>
                    <a:p>
                      <a:pPr algn="ctr" fontAlgn="b"/>
                      <a:r>
                        <a:rPr lang="en-IN" sz="1300" u="none" strike="noStrike" dirty="0">
                          <a:effectLst/>
                        </a:rPr>
                        <a:t>Inception</a:t>
                      </a:r>
                      <a:endParaRPr lang="en-IN" sz="1300" b="0" i="0" u="none" strike="noStrike" dirty="0">
                        <a:solidFill>
                          <a:srgbClr val="000000"/>
                        </a:solidFill>
                        <a:effectLst/>
                        <a:latin typeface="Aptos Narrow" panose="020B0004020202020204" pitchFamily="34" charset="0"/>
                      </a:endParaRPr>
                    </a:p>
                  </a:txBody>
                  <a:tcPr marL="5541" marR="5541" marT="5541"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u="none" strike="noStrike" dirty="0">
                          <a:effectLst/>
                        </a:rPr>
                        <a:t>philosophy skilled kidnapping manipulation mission person "target s subconscious" implantation rescue infiltrating corporate espionage life architecture thief chance cobb impossible task dream payment inception spy considered heist California regain old subconscious France Paris idea target offered "person idea" allegory airplane memory virtual reality car crash los Angeles commits targets world</a:t>
                      </a:r>
                      <a:endParaRPr lang="en-IN" sz="1300" b="0" i="0" u="none" strike="noStrike" dirty="0">
                        <a:solidFill>
                          <a:srgbClr val="000000"/>
                        </a:solidFill>
                        <a:effectLst/>
                        <a:latin typeface="Aptos Narrow" panose="020B0004020202020204" pitchFamily="34" charset="0"/>
                      </a:endParaRPr>
                    </a:p>
                  </a:txBody>
                  <a:tcPr marL="5541" marR="5541" marT="5541"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38666277"/>
                  </a:ext>
                </a:extLst>
              </a:tr>
            </a:tbl>
          </a:graphicData>
        </a:graphic>
      </p:graphicFrame>
    </p:spTree>
    <p:extLst>
      <p:ext uri="{BB962C8B-B14F-4D97-AF65-F5344CB8AC3E}">
        <p14:creationId xmlns:p14="http://schemas.microsoft.com/office/powerpoint/2010/main" val="1518560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AE40D8-43FC-4F65-2911-EFEC1A57C618}"/>
              </a:ext>
            </a:extLst>
          </p:cNvPr>
          <p:cNvSpPr>
            <a:spLocks noGrp="1"/>
          </p:cNvSpPr>
          <p:nvPr>
            <p:ph type="title"/>
          </p:nvPr>
        </p:nvSpPr>
        <p:spPr>
          <a:xfrm>
            <a:off x="630936" y="640080"/>
            <a:ext cx="4818888" cy="1481328"/>
          </a:xfrm>
        </p:spPr>
        <p:txBody>
          <a:bodyPr anchor="b">
            <a:normAutofit/>
          </a:bodyPr>
          <a:lstStyle/>
          <a:p>
            <a:r>
              <a:rPr lang="en-US" sz="5000" dirty="0"/>
              <a:t>Analyzing sentiment values</a:t>
            </a:r>
            <a:endParaRPr lang="en-IN" sz="5000" dirty="0"/>
          </a:p>
        </p:txBody>
      </p:sp>
      <p:sp>
        <p:nvSpPr>
          <p:cNvPr id="26"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9CBAC25-EF0A-2F1F-2D3A-7FA00D0AA3B3}"/>
              </a:ext>
            </a:extLst>
          </p:cNvPr>
          <p:cNvSpPr>
            <a:spLocks noGrp="1"/>
          </p:cNvSpPr>
          <p:nvPr>
            <p:ph idx="1"/>
          </p:nvPr>
        </p:nvSpPr>
        <p:spPr>
          <a:xfrm>
            <a:off x="630936" y="2660904"/>
            <a:ext cx="4818888" cy="3547872"/>
          </a:xfrm>
        </p:spPr>
        <p:txBody>
          <a:bodyPr anchor="t">
            <a:normAutofit/>
          </a:bodyPr>
          <a:lstStyle/>
          <a:p>
            <a:r>
              <a:rPr lang="en-US" sz="2200" dirty="0"/>
              <a:t>A dataset of 100 randomly selected movies was fed into the software (JMP Pro 17) for analysis.</a:t>
            </a:r>
          </a:p>
          <a:p>
            <a:r>
              <a:rPr lang="en-US" sz="2200" dirty="0"/>
              <a:t>Used the Text Explorer feature to identify the most frequently used words</a:t>
            </a:r>
          </a:p>
          <a:p>
            <a:endParaRPr lang="en-IN" sz="2200" dirty="0"/>
          </a:p>
        </p:txBody>
      </p:sp>
      <p:pic>
        <p:nvPicPr>
          <p:cNvPr id="9" name="Picture 8" descr="A close up of words&#10;&#10;Description automatically generated">
            <a:extLst>
              <a:ext uri="{FF2B5EF4-FFF2-40B4-BE49-F238E27FC236}">
                <a16:creationId xmlns:a16="http://schemas.microsoft.com/office/drawing/2014/main" id="{CBC300AA-A5C2-E591-A48E-36295F80B681}"/>
              </a:ext>
            </a:extLst>
          </p:cNvPr>
          <p:cNvPicPr>
            <a:picLocks noChangeAspect="1"/>
          </p:cNvPicPr>
          <p:nvPr/>
        </p:nvPicPr>
        <p:blipFill>
          <a:blip r:embed="rId2"/>
          <a:stretch>
            <a:fillRect/>
          </a:stretch>
        </p:blipFill>
        <p:spPr>
          <a:xfrm>
            <a:off x="6099048" y="2193908"/>
            <a:ext cx="5458968" cy="2470183"/>
          </a:xfrm>
          <a:prstGeom prst="rect">
            <a:avLst/>
          </a:prstGeom>
        </p:spPr>
      </p:pic>
    </p:spTree>
    <p:extLst>
      <p:ext uri="{BB962C8B-B14F-4D97-AF65-F5344CB8AC3E}">
        <p14:creationId xmlns:p14="http://schemas.microsoft.com/office/powerpoint/2010/main" val="726799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A1F90F-59FD-420B-C90D-BD2CD0E33D39}"/>
              </a:ext>
            </a:extLst>
          </p:cNvPr>
          <p:cNvSpPr>
            <a:spLocks noGrp="1"/>
          </p:cNvSpPr>
          <p:nvPr>
            <p:ph type="title"/>
          </p:nvPr>
        </p:nvSpPr>
        <p:spPr>
          <a:xfrm>
            <a:off x="630936" y="639520"/>
            <a:ext cx="5230474" cy="1719072"/>
          </a:xfrm>
        </p:spPr>
        <p:txBody>
          <a:bodyPr vert="horz" lIns="91440" tIns="45720" rIns="91440" bIns="45720" rtlCol="0" anchor="b">
            <a:normAutofit/>
          </a:bodyPr>
          <a:lstStyle/>
          <a:p>
            <a:r>
              <a:rPr lang="en-US" sz="5400" kern="1200" dirty="0">
                <a:solidFill>
                  <a:schemeClr val="tx1"/>
                </a:solidFill>
                <a:latin typeface="+mj-lt"/>
                <a:ea typeface="+mj-ea"/>
                <a:cs typeface="+mj-cs"/>
              </a:rPr>
              <a:t>Insights from Analysis</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1F0CB2C7-7A41-F581-FB90-C41591307E92}"/>
              </a:ext>
            </a:extLst>
          </p:cNvPr>
          <p:cNvSpPr>
            <a:spLocks noGrp="1"/>
          </p:cNvSpPr>
          <p:nvPr>
            <p:ph type="body" sz="half" idx="2"/>
          </p:nvPr>
        </p:nvSpPr>
        <p:spPr>
          <a:xfrm>
            <a:off x="630936" y="2807208"/>
            <a:ext cx="5230474" cy="3410712"/>
          </a:xfrm>
        </p:spPr>
        <p:txBody>
          <a:bodyPr vert="horz" lIns="91440" tIns="45720" rIns="91440" bIns="45720" rtlCol="0" anchor="t">
            <a:normAutofit/>
          </a:bodyPr>
          <a:lstStyle/>
          <a:p>
            <a:pPr indent="-228600">
              <a:buFont typeface="Arial" panose="020B0604020202020204" pitchFamily="34" charset="0"/>
              <a:buChar char="•"/>
            </a:pPr>
            <a:r>
              <a:rPr lang="en-US" sz="2200" dirty="0"/>
              <a:t>Best-rated movies often had low sentiment scores, meaning high ratings don’t always indicate positive emotional responses.</a:t>
            </a:r>
          </a:p>
          <a:p>
            <a:pPr indent="-228600">
              <a:buFont typeface="Arial" panose="020B0604020202020204" pitchFamily="34" charset="0"/>
              <a:buChar char="•"/>
            </a:pPr>
            <a:r>
              <a:rPr lang="en-US" sz="2200" dirty="0"/>
              <a:t>Low-rated movies showed higher sentiment scores, suggesting they could still evoke positive emotional engagement despite low overall ratings.</a:t>
            </a:r>
          </a:p>
        </p:txBody>
      </p:sp>
      <p:graphicFrame>
        <p:nvGraphicFramePr>
          <p:cNvPr id="5" name="Content Placeholder 4">
            <a:extLst>
              <a:ext uri="{FF2B5EF4-FFF2-40B4-BE49-F238E27FC236}">
                <a16:creationId xmlns:a16="http://schemas.microsoft.com/office/drawing/2014/main" id="{4CCB1673-30DC-E0DC-4289-08714A593420}"/>
              </a:ext>
            </a:extLst>
          </p:cNvPr>
          <p:cNvGraphicFramePr>
            <a:graphicFrameLocks noGrp="1"/>
          </p:cNvGraphicFramePr>
          <p:nvPr>
            <p:ph idx="1"/>
            <p:extLst>
              <p:ext uri="{D42A27DB-BD31-4B8C-83A1-F6EECF244321}">
                <p14:modId xmlns:p14="http://schemas.microsoft.com/office/powerpoint/2010/main" val="1186004471"/>
              </p:ext>
            </p:extLst>
          </p:nvPr>
        </p:nvGraphicFramePr>
        <p:xfrm>
          <a:off x="6495392" y="697844"/>
          <a:ext cx="5062626" cy="5624802"/>
        </p:xfrm>
        <a:graphic>
          <a:graphicData uri="http://schemas.openxmlformats.org/drawingml/2006/table">
            <a:tbl>
              <a:tblPr firstRow="1" bandRow="1">
                <a:solidFill>
                  <a:schemeClr val="tx1">
                    <a:lumMod val="65000"/>
                    <a:lumOff val="35000"/>
                  </a:schemeClr>
                </a:solidFill>
              </a:tblPr>
              <a:tblGrid>
                <a:gridCol w="2126937">
                  <a:extLst>
                    <a:ext uri="{9D8B030D-6E8A-4147-A177-3AD203B41FA5}">
                      <a16:colId xmlns:a16="http://schemas.microsoft.com/office/drawing/2014/main" val="2879427926"/>
                    </a:ext>
                  </a:extLst>
                </a:gridCol>
                <a:gridCol w="791323">
                  <a:extLst>
                    <a:ext uri="{9D8B030D-6E8A-4147-A177-3AD203B41FA5}">
                      <a16:colId xmlns:a16="http://schemas.microsoft.com/office/drawing/2014/main" val="1904273409"/>
                    </a:ext>
                  </a:extLst>
                </a:gridCol>
                <a:gridCol w="924150">
                  <a:extLst>
                    <a:ext uri="{9D8B030D-6E8A-4147-A177-3AD203B41FA5}">
                      <a16:colId xmlns:a16="http://schemas.microsoft.com/office/drawing/2014/main" val="332337405"/>
                    </a:ext>
                  </a:extLst>
                </a:gridCol>
                <a:gridCol w="1220216">
                  <a:extLst>
                    <a:ext uri="{9D8B030D-6E8A-4147-A177-3AD203B41FA5}">
                      <a16:colId xmlns:a16="http://schemas.microsoft.com/office/drawing/2014/main" val="3478905573"/>
                    </a:ext>
                  </a:extLst>
                </a:gridCol>
              </a:tblGrid>
              <a:tr h="411613">
                <a:tc>
                  <a:txBody>
                    <a:bodyPr/>
                    <a:lstStyle/>
                    <a:p>
                      <a:pPr algn="ctr" fontAlgn="b"/>
                      <a:r>
                        <a:rPr lang="en-IN" sz="1000" b="1" i="0" u="none" strike="noStrike" cap="all" spc="60" dirty="0">
                          <a:solidFill>
                            <a:schemeClr val="tx1"/>
                          </a:solidFill>
                          <a:effectLst/>
                          <a:latin typeface="Aptos Narrow" panose="020B0004020202020204" pitchFamily="34" charset="0"/>
                        </a:rPr>
                        <a:t>Title</a:t>
                      </a:r>
                    </a:p>
                  </a:txBody>
                  <a:tcPr marL="114337" marR="114337" marT="114337" marB="1143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fontAlgn="b"/>
                      <a:r>
                        <a:rPr lang="en-IN" sz="1000" b="1" i="0" u="none" strike="noStrike" cap="all" spc="60">
                          <a:solidFill>
                            <a:schemeClr val="tx1"/>
                          </a:solidFill>
                          <a:effectLst/>
                          <a:latin typeface="Aptos Narrow" panose="020B0004020202020204" pitchFamily="34" charset="0"/>
                        </a:rPr>
                        <a:t>Year</a:t>
                      </a:r>
                    </a:p>
                  </a:txBody>
                  <a:tcPr marL="114337" marR="114337" marT="114337" marB="1143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fontAlgn="b"/>
                      <a:r>
                        <a:rPr lang="en-IN" sz="1000" b="1" i="0" u="none" strike="noStrike" cap="all" spc="60" dirty="0">
                          <a:solidFill>
                            <a:schemeClr val="tx1"/>
                          </a:solidFill>
                          <a:effectLst/>
                          <a:latin typeface="Aptos Narrow" panose="020B0004020202020204" pitchFamily="34" charset="0"/>
                        </a:rPr>
                        <a:t>Rating</a:t>
                      </a:r>
                    </a:p>
                  </a:txBody>
                  <a:tcPr marL="114337" marR="114337" marT="114337" marB="1143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fontAlgn="b"/>
                      <a:r>
                        <a:rPr lang="en-IN" sz="1000" b="1" i="0" u="none" strike="noStrike" cap="all" spc="60" dirty="0">
                          <a:solidFill>
                            <a:schemeClr val="tx1"/>
                          </a:solidFill>
                          <a:effectLst/>
                          <a:latin typeface="Aptos Narrow" panose="020B0004020202020204" pitchFamily="34" charset="0"/>
                        </a:rPr>
                        <a:t>Sentiment</a:t>
                      </a:r>
                    </a:p>
                  </a:txBody>
                  <a:tcPr marL="114337" marR="114337" marT="114337" marB="1143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071083453"/>
                  </a:ext>
                </a:extLst>
              </a:tr>
              <a:tr h="315669">
                <a:tc>
                  <a:txBody>
                    <a:bodyPr/>
                    <a:lstStyle/>
                    <a:p>
                      <a:pPr algn="ctr" fontAlgn="b"/>
                      <a:r>
                        <a:rPr lang="en-IN" sz="1300" b="0" i="0" u="none" strike="noStrike" cap="none" spc="0">
                          <a:solidFill>
                            <a:schemeClr val="tx1"/>
                          </a:solidFill>
                          <a:effectLst/>
                          <a:latin typeface="Aptos Narrow" panose="020B0004020202020204" pitchFamily="34" charset="0"/>
                        </a:rPr>
                        <a:t>12 Angry Men</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1957</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9</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Bad</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8638494"/>
                  </a:ext>
                </a:extLst>
              </a:tr>
              <a:tr h="315669">
                <a:tc>
                  <a:txBody>
                    <a:bodyPr/>
                    <a:lstStyle/>
                    <a:p>
                      <a:pPr algn="ctr" fontAlgn="b"/>
                      <a:r>
                        <a:rPr lang="en-IN" sz="1300" b="0" i="0" u="none" strike="noStrike" cap="none" spc="0">
                          <a:solidFill>
                            <a:schemeClr val="tx1"/>
                          </a:solidFill>
                          <a:effectLst/>
                          <a:latin typeface="Aptos Narrow" panose="020B0004020202020204" pitchFamily="34" charset="0"/>
                        </a:rPr>
                        <a:t>Fight Club</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1999</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8.8</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Disappointing</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4552737"/>
                  </a:ext>
                </a:extLst>
              </a:tr>
              <a:tr h="315669">
                <a:tc>
                  <a:txBody>
                    <a:bodyPr/>
                    <a:lstStyle/>
                    <a:p>
                      <a:pPr algn="ctr" fontAlgn="b"/>
                      <a:r>
                        <a:rPr lang="en-IN" sz="1300" b="0" i="0" u="none" strike="noStrike" cap="none" spc="0">
                          <a:solidFill>
                            <a:schemeClr val="tx1"/>
                          </a:solidFill>
                          <a:effectLst/>
                          <a:latin typeface="Aptos Narrow" panose="020B0004020202020204" pitchFamily="34" charset="0"/>
                        </a:rPr>
                        <a:t>Inception</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2010</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8.8</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Bad</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5154370"/>
                  </a:ext>
                </a:extLst>
              </a:tr>
              <a:tr h="315669">
                <a:tc>
                  <a:txBody>
                    <a:bodyPr/>
                    <a:lstStyle/>
                    <a:p>
                      <a:pPr algn="ctr" fontAlgn="b"/>
                      <a:r>
                        <a:rPr lang="en-IN" sz="1300" b="0" i="0" u="none" strike="noStrike" cap="none" spc="0">
                          <a:solidFill>
                            <a:schemeClr val="tx1"/>
                          </a:solidFill>
                          <a:effectLst/>
                          <a:latin typeface="Aptos Narrow" panose="020B0004020202020204" pitchFamily="34" charset="0"/>
                        </a:rPr>
                        <a:t>Inglourious Basterds</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2009</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8.3</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Disappointing</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260827"/>
                  </a:ext>
                </a:extLst>
              </a:tr>
              <a:tr h="315669">
                <a:tc>
                  <a:txBody>
                    <a:bodyPr/>
                    <a:lstStyle/>
                    <a:p>
                      <a:pPr algn="ctr" fontAlgn="b"/>
                      <a:r>
                        <a:rPr lang="en-IN" sz="1300" b="0" i="0" u="none" strike="noStrike" cap="none" spc="0" dirty="0">
                          <a:solidFill>
                            <a:schemeClr val="tx1"/>
                          </a:solidFill>
                          <a:effectLst/>
                          <a:latin typeface="Aptos Narrow" panose="020B0004020202020204" pitchFamily="34" charset="0"/>
                        </a:rPr>
                        <a:t>It</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2017</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8.1</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Disappointing</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6189476"/>
                  </a:ext>
                </a:extLst>
              </a:tr>
              <a:tr h="315669">
                <a:tc>
                  <a:txBody>
                    <a:bodyPr/>
                    <a:lstStyle/>
                    <a:p>
                      <a:pPr algn="ctr" fontAlgn="b"/>
                      <a:r>
                        <a:rPr lang="en-IN" sz="1300" b="0" i="0" u="none" strike="noStrike" cap="none" spc="0" dirty="0">
                          <a:solidFill>
                            <a:schemeClr val="tx1"/>
                          </a:solidFill>
                          <a:effectLst/>
                          <a:latin typeface="Aptos Narrow" panose="020B0004020202020204" pitchFamily="34" charset="0"/>
                        </a:rPr>
                        <a:t>Joker</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2019</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dirty="0">
                          <a:solidFill>
                            <a:schemeClr val="tx1"/>
                          </a:solidFill>
                          <a:effectLst/>
                          <a:latin typeface="Aptos Narrow" panose="020B0004020202020204" pitchFamily="34" charset="0"/>
                        </a:rPr>
                        <a:t>8.5</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Disappointing</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2627586"/>
                  </a:ext>
                </a:extLst>
              </a:tr>
              <a:tr h="315669">
                <a:tc>
                  <a:txBody>
                    <a:bodyPr/>
                    <a:lstStyle/>
                    <a:p>
                      <a:pPr algn="ctr" fontAlgn="b"/>
                      <a:r>
                        <a:rPr lang="en-IN" sz="1300" b="0" i="0" u="none" strike="noStrike" cap="none" spc="0" dirty="0">
                          <a:solidFill>
                            <a:schemeClr val="tx1"/>
                          </a:solidFill>
                          <a:effectLst/>
                          <a:latin typeface="Aptos Narrow" panose="020B0004020202020204" pitchFamily="34" charset="0"/>
                        </a:rPr>
                        <a:t>Kill Bill: Vol. 1</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2003</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dirty="0">
                          <a:solidFill>
                            <a:schemeClr val="tx1"/>
                          </a:solidFill>
                          <a:effectLst/>
                          <a:latin typeface="Aptos Narrow" panose="020B0004020202020204" pitchFamily="34" charset="0"/>
                        </a:rPr>
                        <a:t>8.1</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Terrible</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1699012"/>
                  </a:ext>
                </a:extLst>
              </a:tr>
              <a:tr h="315669">
                <a:tc>
                  <a:txBody>
                    <a:bodyPr/>
                    <a:lstStyle/>
                    <a:p>
                      <a:pPr algn="ctr" fontAlgn="b"/>
                      <a:r>
                        <a:rPr lang="en-IN" sz="1300" b="0" i="0" u="none" strike="noStrike" cap="none" spc="0" dirty="0">
                          <a:solidFill>
                            <a:schemeClr val="tx1"/>
                          </a:solidFill>
                          <a:effectLst/>
                          <a:latin typeface="Aptos Narrow" panose="020B0004020202020204" pitchFamily="34" charset="0"/>
                        </a:rPr>
                        <a:t>Memento</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2000</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dirty="0">
                          <a:solidFill>
                            <a:schemeClr val="tx1"/>
                          </a:solidFill>
                          <a:effectLst/>
                          <a:latin typeface="Aptos Narrow" panose="020B0004020202020204" pitchFamily="34" charset="0"/>
                        </a:rPr>
                        <a:t>8.4</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Bad</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07597"/>
                  </a:ext>
                </a:extLst>
              </a:tr>
              <a:tr h="315669">
                <a:tc>
                  <a:txBody>
                    <a:bodyPr/>
                    <a:lstStyle/>
                    <a:p>
                      <a:pPr algn="ctr" fontAlgn="b"/>
                      <a:r>
                        <a:rPr lang="en-US" sz="1300" b="0" i="0" u="none" strike="noStrike" cap="none" spc="0">
                          <a:solidFill>
                            <a:schemeClr val="tx1"/>
                          </a:solidFill>
                          <a:effectLst/>
                          <a:latin typeface="Aptos Narrow" panose="020B0004020202020204" pitchFamily="34" charset="0"/>
                        </a:rPr>
                        <a:t>Pirates of the Caribbean: At World's End</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2007</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8.2</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Bad</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8514732"/>
                  </a:ext>
                </a:extLst>
              </a:tr>
              <a:tr h="315669">
                <a:tc>
                  <a:txBody>
                    <a:bodyPr/>
                    <a:lstStyle/>
                    <a:p>
                      <a:pPr algn="ctr" fontAlgn="b"/>
                      <a:r>
                        <a:rPr lang="en-IN" sz="1300" b="0" i="0" u="none" strike="noStrike" cap="none" spc="0">
                          <a:solidFill>
                            <a:schemeClr val="tx1"/>
                          </a:solidFill>
                          <a:effectLst/>
                          <a:latin typeface="Aptos Narrow" panose="020B0004020202020204" pitchFamily="34" charset="0"/>
                        </a:rPr>
                        <a:t>Prisoners</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2013</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8.1</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Bad</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50736256"/>
                  </a:ext>
                </a:extLst>
              </a:tr>
              <a:tr h="315669">
                <a:tc>
                  <a:txBody>
                    <a:bodyPr/>
                    <a:lstStyle/>
                    <a:p>
                      <a:pPr algn="ctr" fontAlgn="b"/>
                      <a:r>
                        <a:rPr lang="en-IN" sz="1300" b="0" i="0" u="none" strike="noStrike" cap="none" spc="0">
                          <a:solidFill>
                            <a:schemeClr val="tx1"/>
                          </a:solidFill>
                          <a:effectLst/>
                          <a:latin typeface="Aptos Narrow" panose="020B0004020202020204" pitchFamily="34" charset="0"/>
                        </a:rPr>
                        <a:t>Saving Private Ryan</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1998</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8.6</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Disappointing</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0077667"/>
                  </a:ext>
                </a:extLst>
              </a:tr>
              <a:tr h="315669">
                <a:tc>
                  <a:txBody>
                    <a:bodyPr/>
                    <a:lstStyle/>
                    <a:p>
                      <a:pPr algn="ctr" fontAlgn="b"/>
                      <a:r>
                        <a:rPr lang="en-IN" sz="1300" b="0" i="0" u="none" strike="noStrike" cap="none" spc="0">
                          <a:solidFill>
                            <a:schemeClr val="tx1"/>
                          </a:solidFill>
                          <a:effectLst/>
                          <a:latin typeface="Aptos Narrow" panose="020B0004020202020204" pitchFamily="34" charset="0"/>
                        </a:rPr>
                        <a:t>Se7en</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1995</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8.6</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Bad</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1097727"/>
                  </a:ext>
                </a:extLst>
              </a:tr>
              <a:tr h="315669">
                <a:tc>
                  <a:txBody>
                    <a:bodyPr/>
                    <a:lstStyle/>
                    <a:p>
                      <a:pPr algn="ctr" fontAlgn="b"/>
                      <a:r>
                        <a:rPr lang="en-IN" sz="1300" b="0" i="0" u="none" strike="noStrike" cap="none" spc="0">
                          <a:solidFill>
                            <a:schemeClr val="tx1"/>
                          </a:solidFill>
                          <a:effectLst/>
                          <a:latin typeface="Aptos Narrow" panose="020B0004020202020204" pitchFamily="34" charset="0"/>
                        </a:rPr>
                        <a:t>Shutter Island</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2010</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8.2</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Terrible</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16068207"/>
                  </a:ext>
                </a:extLst>
              </a:tr>
              <a:tr h="315669">
                <a:tc>
                  <a:txBody>
                    <a:bodyPr/>
                    <a:lstStyle/>
                    <a:p>
                      <a:pPr algn="ctr" fontAlgn="b"/>
                      <a:r>
                        <a:rPr lang="en-IN" sz="1300" b="0" i="0" u="none" strike="noStrike" cap="none" spc="0">
                          <a:solidFill>
                            <a:schemeClr val="tx1"/>
                          </a:solidFill>
                          <a:effectLst/>
                          <a:latin typeface="Aptos Narrow" panose="020B0004020202020204" pitchFamily="34" charset="0"/>
                        </a:rPr>
                        <a:t>The Godfather</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1972</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9.2</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Disappointing</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3116858"/>
                  </a:ext>
                </a:extLst>
              </a:tr>
              <a:tr h="315669">
                <a:tc>
                  <a:txBody>
                    <a:bodyPr/>
                    <a:lstStyle/>
                    <a:p>
                      <a:pPr algn="ctr" fontAlgn="b"/>
                      <a:r>
                        <a:rPr lang="en-IN" sz="1300" b="0" i="0" u="none" strike="noStrike" cap="none" spc="0">
                          <a:solidFill>
                            <a:schemeClr val="tx1"/>
                          </a:solidFill>
                          <a:effectLst/>
                          <a:latin typeface="Aptos Narrow" panose="020B0004020202020204" pitchFamily="34" charset="0"/>
                        </a:rPr>
                        <a:t>The Pianist</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2002</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8.5</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Bad</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38851498"/>
                  </a:ext>
                </a:extLst>
              </a:tr>
              <a:tr h="315669">
                <a:tc>
                  <a:txBody>
                    <a:bodyPr/>
                    <a:lstStyle/>
                    <a:p>
                      <a:pPr algn="ctr" fontAlgn="b"/>
                      <a:r>
                        <a:rPr lang="en-IN" sz="1300" b="0" i="0" u="none" strike="noStrike" cap="none" spc="0" dirty="0">
                          <a:solidFill>
                            <a:schemeClr val="tx1"/>
                          </a:solidFill>
                          <a:effectLst/>
                          <a:latin typeface="Aptos Narrow" panose="020B0004020202020204" pitchFamily="34" charset="0"/>
                        </a:rPr>
                        <a:t>The Prestige</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2006</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a:solidFill>
                            <a:schemeClr val="tx1"/>
                          </a:solidFill>
                          <a:effectLst/>
                          <a:latin typeface="Aptos Narrow" panose="020B0004020202020204" pitchFamily="34" charset="0"/>
                        </a:rPr>
                        <a:t>8.5</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300" b="0" i="0" u="none" strike="noStrike" cap="none" spc="0" dirty="0">
                          <a:solidFill>
                            <a:schemeClr val="tx1"/>
                          </a:solidFill>
                          <a:effectLst/>
                          <a:latin typeface="Aptos Narrow" panose="020B0004020202020204" pitchFamily="34" charset="0"/>
                        </a:rPr>
                        <a:t>Bad</a:t>
                      </a:r>
                    </a:p>
                  </a:txBody>
                  <a:tcPr marL="5689" marR="5689" marT="5689" marB="762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5635807"/>
                  </a:ext>
                </a:extLst>
              </a:tr>
            </a:tbl>
          </a:graphicData>
        </a:graphic>
      </p:graphicFrame>
    </p:spTree>
    <p:extLst>
      <p:ext uri="{BB962C8B-B14F-4D97-AF65-F5344CB8AC3E}">
        <p14:creationId xmlns:p14="http://schemas.microsoft.com/office/powerpoint/2010/main" val="1885225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59D468-EFAA-423C-2DAA-4A46B4E8DAE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1BDDFCB-CB42-D092-6A2D-75E3F715F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0AFBBF-E30B-F437-5E44-0C2D8E7A77B2}"/>
              </a:ext>
            </a:extLst>
          </p:cNvPr>
          <p:cNvSpPr>
            <a:spLocks noGrp="1"/>
          </p:cNvSpPr>
          <p:nvPr>
            <p:ph type="title"/>
          </p:nvPr>
        </p:nvSpPr>
        <p:spPr>
          <a:xfrm>
            <a:off x="630936" y="639520"/>
            <a:ext cx="5230474" cy="1719072"/>
          </a:xfrm>
        </p:spPr>
        <p:txBody>
          <a:bodyPr vert="horz" lIns="91440" tIns="45720" rIns="91440" bIns="45720" rtlCol="0" anchor="b">
            <a:normAutofit/>
          </a:bodyPr>
          <a:lstStyle/>
          <a:p>
            <a:r>
              <a:rPr lang="en-US" sz="5400" kern="1200" dirty="0">
                <a:solidFill>
                  <a:schemeClr val="tx1"/>
                </a:solidFill>
                <a:latin typeface="+mj-lt"/>
                <a:ea typeface="+mj-ea"/>
                <a:cs typeface="+mj-cs"/>
              </a:rPr>
              <a:t>Emotional vs Rating</a:t>
            </a:r>
          </a:p>
        </p:txBody>
      </p:sp>
      <p:sp>
        <p:nvSpPr>
          <p:cNvPr id="12" name="sketch line">
            <a:extLst>
              <a:ext uri="{FF2B5EF4-FFF2-40B4-BE49-F238E27FC236}">
                <a16:creationId xmlns:a16="http://schemas.microsoft.com/office/drawing/2014/main" id="{D36443FA-71A0-8D98-5696-25CE158247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1F707BB9-A739-EC4E-F2AE-B775985B62E0}"/>
              </a:ext>
            </a:extLst>
          </p:cNvPr>
          <p:cNvSpPr>
            <a:spLocks noGrp="1"/>
          </p:cNvSpPr>
          <p:nvPr>
            <p:ph type="body" sz="half" idx="2"/>
          </p:nvPr>
        </p:nvSpPr>
        <p:spPr>
          <a:xfrm>
            <a:off x="630936" y="2807208"/>
            <a:ext cx="5230474" cy="3410712"/>
          </a:xfrm>
        </p:spPr>
        <p:txBody>
          <a:bodyPr vert="horz" lIns="91440" tIns="45720" rIns="91440" bIns="45720" rtlCol="0" anchor="t">
            <a:normAutofit/>
          </a:bodyPr>
          <a:lstStyle/>
          <a:p>
            <a:pPr indent="-228600">
              <a:buFont typeface="Arial" panose="020B0604020202020204" pitchFamily="34" charset="0"/>
              <a:buChar char="•"/>
            </a:pPr>
            <a:r>
              <a:rPr lang="en-US" sz="2200" dirty="0"/>
              <a:t>Some low-rated movies displayed strong positive sentiment, indicating emotional connections that high ratings don’t always capture.</a:t>
            </a:r>
          </a:p>
          <a:p>
            <a:pPr indent="-228600">
              <a:buFont typeface="Arial" panose="020B0604020202020204" pitchFamily="34" charset="0"/>
              <a:buChar char="•"/>
            </a:pPr>
            <a:r>
              <a:rPr lang="en-US" sz="2200" dirty="0"/>
              <a:t>Conversely, high-rated movies often lacked strong sentiment, possibly due to expectations, critic bias, or other external factors beyond emotional engagement.</a:t>
            </a:r>
          </a:p>
        </p:txBody>
      </p:sp>
      <p:graphicFrame>
        <p:nvGraphicFramePr>
          <p:cNvPr id="5" name="Content Placeholder 4">
            <a:extLst>
              <a:ext uri="{FF2B5EF4-FFF2-40B4-BE49-F238E27FC236}">
                <a16:creationId xmlns:a16="http://schemas.microsoft.com/office/drawing/2014/main" id="{854F4824-1E44-863B-8F17-2BC263B54428}"/>
              </a:ext>
            </a:extLst>
          </p:cNvPr>
          <p:cNvGraphicFramePr>
            <a:graphicFrameLocks noGrp="1"/>
          </p:cNvGraphicFramePr>
          <p:nvPr>
            <p:ph idx="1"/>
            <p:extLst>
              <p:ext uri="{D42A27DB-BD31-4B8C-83A1-F6EECF244321}">
                <p14:modId xmlns:p14="http://schemas.microsoft.com/office/powerpoint/2010/main" val="870304706"/>
              </p:ext>
            </p:extLst>
          </p:nvPr>
        </p:nvGraphicFramePr>
        <p:xfrm>
          <a:off x="6629399" y="1644848"/>
          <a:ext cx="5062626" cy="3568303"/>
        </p:xfrm>
        <a:graphic>
          <a:graphicData uri="http://schemas.openxmlformats.org/drawingml/2006/table">
            <a:tbl>
              <a:tblPr firstRow="1" bandRow="1">
                <a:solidFill>
                  <a:schemeClr val="tx1">
                    <a:lumMod val="65000"/>
                    <a:lumOff val="35000"/>
                  </a:schemeClr>
                </a:solidFill>
              </a:tblPr>
              <a:tblGrid>
                <a:gridCol w="2126937">
                  <a:extLst>
                    <a:ext uri="{9D8B030D-6E8A-4147-A177-3AD203B41FA5}">
                      <a16:colId xmlns:a16="http://schemas.microsoft.com/office/drawing/2014/main" val="2879427926"/>
                    </a:ext>
                  </a:extLst>
                </a:gridCol>
                <a:gridCol w="791323">
                  <a:extLst>
                    <a:ext uri="{9D8B030D-6E8A-4147-A177-3AD203B41FA5}">
                      <a16:colId xmlns:a16="http://schemas.microsoft.com/office/drawing/2014/main" val="1904273409"/>
                    </a:ext>
                  </a:extLst>
                </a:gridCol>
                <a:gridCol w="924150">
                  <a:extLst>
                    <a:ext uri="{9D8B030D-6E8A-4147-A177-3AD203B41FA5}">
                      <a16:colId xmlns:a16="http://schemas.microsoft.com/office/drawing/2014/main" val="332337405"/>
                    </a:ext>
                  </a:extLst>
                </a:gridCol>
                <a:gridCol w="1220216">
                  <a:extLst>
                    <a:ext uri="{9D8B030D-6E8A-4147-A177-3AD203B41FA5}">
                      <a16:colId xmlns:a16="http://schemas.microsoft.com/office/drawing/2014/main" val="3478905573"/>
                    </a:ext>
                  </a:extLst>
                </a:gridCol>
              </a:tblGrid>
              <a:tr h="411613">
                <a:tc>
                  <a:txBody>
                    <a:bodyPr/>
                    <a:lstStyle/>
                    <a:p>
                      <a:pPr algn="ctr" fontAlgn="b"/>
                      <a:r>
                        <a:rPr lang="en-IN" sz="1100" b="0" i="0" u="none" strike="noStrike" dirty="0">
                          <a:solidFill>
                            <a:srgbClr val="000000"/>
                          </a:solidFill>
                          <a:effectLst/>
                          <a:latin typeface="Aptos Narrow" panose="020B0004020202020204" pitchFamily="34" charset="0"/>
                        </a:rPr>
                        <a:t>Title</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fontAlgn="b"/>
                      <a:r>
                        <a:rPr lang="en-IN" sz="1100" b="0" i="0" u="none" strike="noStrike" dirty="0">
                          <a:solidFill>
                            <a:srgbClr val="000000"/>
                          </a:solidFill>
                          <a:effectLst/>
                          <a:latin typeface="Aptos Narrow" panose="020B0004020202020204" pitchFamily="34" charset="0"/>
                        </a:rPr>
                        <a:t>Year</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fontAlgn="b"/>
                      <a:r>
                        <a:rPr lang="en-IN" sz="1100" b="0" i="0" u="none" strike="noStrike" dirty="0">
                          <a:solidFill>
                            <a:srgbClr val="000000"/>
                          </a:solidFill>
                          <a:effectLst/>
                          <a:latin typeface="Aptos Narrow" panose="020B0004020202020204" pitchFamily="34" charset="0"/>
                        </a:rPr>
                        <a:t>Rating</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fontAlgn="b"/>
                      <a:r>
                        <a:rPr lang="en-IN" sz="1100" b="0" i="0" u="none" strike="noStrike" dirty="0">
                          <a:solidFill>
                            <a:srgbClr val="000000"/>
                          </a:solidFill>
                          <a:effectLst/>
                          <a:latin typeface="Aptos Narrow" panose="020B0004020202020204" pitchFamily="34" charset="0"/>
                        </a:rPr>
                        <a:t>Sentiment</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071083453"/>
                  </a:ext>
                </a:extLst>
              </a:tr>
              <a:tr h="315669">
                <a:tc>
                  <a:txBody>
                    <a:bodyPr/>
                    <a:lstStyle/>
                    <a:p>
                      <a:pPr algn="ctr" fontAlgn="b"/>
                      <a:r>
                        <a:rPr lang="en-IN" sz="1100" b="0" i="0" u="none" strike="noStrike" dirty="0">
                          <a:solidFill>
                            <a:srgbClr val="000000"/>
                          </a:solidFill>
                          <a:effectLst/>
                          <a:latin typeface="Aptos Narrow" panose="020B0004020202020204" pitchFamily="34" charset="0"/>
                        </a:rPr>
                        <a:t>Spider-Man: Far From Home</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2019</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6.7</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Enjoyable</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8638494"/>
                  </a:ext>
                </a:extLst>
              </a:tr>
              <a:tr h="315669">
                <a:tc>
                  <a:txBody>
                    <a:bodyPr/>
                    <a:lstStyle/>
                    <a:p>
                      <a:pPr algn="ctr" fontAlgn="b"/>
                      <a:r>
                        <a:rPr lang="en-IN" sz="1100" b="0" i="0" u="none" strike="noStrike">
                          <a:solidFill>
                            <a:srgbClr val="000000"/>
                          </a:solidFill>
                          <a:effectLst/>
                          <a:latin typeface="Aptos Narrow" panose="020B0004020202020204" pitchFamily="34" charset="0"/>
                        </a:rPr>
                        <a:t>Ready Player One</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2018</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6.8</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Mildly Entertaining</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4552737"/>
                  </a:ext>
                </a:extLst>
              </a:tr>
              <a:tr h="315669">
                <a:tc>
                  <a:txBody>
                    <a:bodyPr/>
                    <a:lstStyle/>
                    <a:p>
                      <a:pPr algn="ctr" fontAlgn="b"/>
                      <a:r>
                        <a:rPr lang="en-IN" sz="1100" b="0" i="0" u="none" strike="noStrike">
                          <a:solidFill>
                            <a:srgbClr val="000000"/>
                          </a:solidFill>
                          <a:effectLst/>
                          <a:latin typeface="Aptos Narrow" panose="020B0004020202020204" pitchFamily="34" charset="0"/>
                        </a:rPr>
                        <a:t>Top Gun</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dirty="0">
                          <a:solidFill>
                            <a:srgbClr val="000000"/>
                          </a:solidFill>
                          <a:effectLst/>
                          <a:latin typeface="Aptos Narrow" panose="020B0004020202020204" pitchFamily="34" charset="0"/>
                        </a:rPr>
                        <a:t>1986</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5.7</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Enjoyable</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5154370"/>
                  </a:ext>
                </a:extLst>
              </a:tr>
              <a:tr h="315669">
                <a:tc>
                  <a:txBody>
                    <a:bodyPr/>
                    <a:lstStyle/>
                    <a:p>
                      <a:pPr algn="ctr" fontAlgn="b"/>
                      <a:r>
                        <a:rPr lang="en-IN" sz="1100" b="0" i="0" u="none" strike="noStrike" dirty="0">
                          <a:solidFill>
                            <a:srgbClr val="000000"/>
                          </a:solidFill>
                          <a:effectLst/>
                          <a:latin typeface="Aptos Narrow" panose="020B0004020202020204" pitchFamily="34" charset="0"/>
                        </a:rPr>
                        <a:t>Luca</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2021</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dirty="0">
                          <a:solidFill>
                            <a:srgbClr val="000000"/>
                          </a:solidFill>
                          <a:effectLst/>
                          <a:latin typeface="Aptos Narrow" panose="020B0004020202020204" pitchFamily="34" charset="0"/>
                        </a:rPr>
                        <a:t>6.3</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Enjoyable</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260827"/>
                  </a:ext>
                </a:extLst>
              </a:tr>
              <a:tr h="315669">
                <a:tc>
                  <a:txBody>
                    <a:bodyPr/>
                    <a:lstStyle/>
                    <a:p>
                      <a:pPr algn="ctr" fontAlgn="b"/>
                      <a:r>
                        <a:rPr lang="en-IN" sz="1100" b="0" i="0" u="none" strike="noStrike">
                          <a:solidFill>
                            <a:srgbClr val="000000"/>
                          </a:solidFill>
                          <a:effectLst/>
                          <a:latin typeface="Aptos Narrow" panose="020B0004020202020204" pitchFamily="34" charset="0"/>
                        </a:rPr>
                        <a:t>The Terminal</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2004</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dirty="0">
                          <a:solidFill>
                            <a:srgbClr val="000000"/>
                          </a:solidFill>
                          <a:effectLst/>
                          <a:latin typeface="Aptos Narrow" panose="020B0004020202020204" pitchFamily="34" charset="0"/>
                        </a:rPr>
                        <a:t>6.8</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Enjoyable</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6189476"/>
                  </a:ext>
                </a:extLst>
              </a:tr>
              <a:tr h="315669">
                <a:tc>
                  <a:txBody>
                    <a:bodyPr/>
                    <a:lstStyle/>
                    <a:p>
                      <a:pPr algn="ctr" fontAlgn="b"/>
                      <a:r>
                        <a:rPr lang="en-IN" sz="1100" b="0" i="0" u="none" strike="noStrike">
                          <a:solidFill>
                            <a:srgbClr val="000000"/>
                          </a:solidFill>
                          <a:effectLst/>
                          <a:latin typeface="Aptos Narrow" panose="020B0004020202020204" pitchFamily="34" charset="0"/>
                        </a:rPr>
                        <a:t>Cars 2</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2011</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dirty="0">
                          <a:solidFill>
                            <a:srgbClr val="000000"/>
                          </a:solidFill>
                          <a:effectLst/>
                          <a:latin typeface="Aptos Narrow" panose="020B0004020202020204" pitchFamily="34" charset="0"/>
                        </a:rPr>
                        <a:t>6.3</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dirty="0">
                          <a:solidFill>
                            <a:srgbClr val="000000"/>
                          </a:solidFill>
                          <a:effectLst/>
                          <a:latin typeface="Aptos Narrow" panose="020B0004020202020204" pitchFamily="34" charset="0"/>
                        </a:rPr>
                        <a:t>Enjoyable</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2627586"/>
                  </a:ext>
                </a:extLst>
              </a:tr>
              <a:tr h="315669">
                <a:tc>
                  <a:txBody>
                    <a:bodyPr/>
                    <a:lstStyle/>
                    <a:p>
                      <a:pPr algn="ctr" fontAlgn="b"/>
                      <a:r>
                        <a:rPr lang="en-US" sz="1100" b="0" i="0" u="none" strike="noStrike">
                          <a:solidFill>
                            <a:srgbClr val="000000"/>
                          </a:solidFill>
                          <a:effectLst/>
                          <a:latin typeface="Aptos Narrow" panose="020B0004020202020204" pitchFamily="34" charset="0"/>
                        </a:rPr>
                        <a:t>300: Rise of an Empire</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2014</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dirty="0">
                          <a:solidFill>
                            <a:srgbClr val="000000"/>
                          </a:solidFill>
                          <a:effectLst/>
                          <a:latin typeface="Aptos Narrow" panose="020B0004020202020204" pitchFamily="34" charset="0"/>
                        </a:rPr>
                        <a:t>6.9</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dirty="0">
                          <a:solidFill>
                            <a:srgbClr val="000000"/>
                          </a:solidFill>
                          <a:effectLst/>
                          <a:latin typeface="Aptos Narrow" panose="020B0004020202020204" pitchFamily="34" charset="0"/>
                        </a:rPr>
                        <a:t>Mildly Entertaining</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1699012"/>
                  </a:ext>
                </a:extLst>
              </a:tr>
              <a:tr h="315669">
                <a:tc>
                  <a:txBody>
                    <a:bodyPr/>
                    <a:lstStyle/>
                    <a:p>
                      <a:pPr algn="ctr" fontAlgn="b"/>
                      <a:r>
                        <a:rPr lang="en-IN" sz="1100" b="0" i="0" u="none" strike="noStrike">
                          <a:solidFill>
                            <a:srgbClr val="000000"/>
                          </a:solidFill>
                          <a:effectLst/>
                          <a:latin typeface="Aptos Narrow" panose="020B0004020202020204" pitchFamily="34" charset="0"/>
                        </a:rPr>
                        <a:t>Kung Fu Panda 3</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2016</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6.2</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dirty="0">
                          <a:solidFill>
                            <a:srgbClr val="000000"/>
                          </a:solidFill>
                          <a:effectLst/>
                          <a:latin typeface="Aptos Narrow" panose="020B0004020202020204" pitchFamily="34" charset="0"/>
                        </a:rPr>
                        <a:t>Mildly Entertaining</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07597"/>
                  </a:ext>
                </a:extLst>
              </a:tr>
              <a:tr h="315669">
                <a:tc>
                  <a:txBody>
                    <a:bodyPr/>
                    <a:lstStyle/>
                    <a:p>
                      <a:pPr algn="ctr" fontAlgn="b"/>
                      <a:r>
                        <a:rPr lang="en-IN" sz="1100" b="0" i="0" u="none" strike="noStrike">
                          <a:solidFill>
                            <a:srgbClr val="000000"/>
                          </a:solidFill>
                          <a:effectLst/>
                          <a:latin typeface="Aptos Narrow" panose="020B0004020202020204" pitchFamily="34" charset="0"/>
                        </a:rPr>
                        <a:t>Cars 3</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2017</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5.3</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dirty="0">
                          <a:solidFill>
                            <a:srgbClr val="000000"/>
                          </a:solidFill>
                          <a:effectLst/>
                          <a:latin typeface="Aptos Narrow" panose="020B0004020202020204" pitchFamily="34" charset="0"/>
                        </a:rPr>
                        <a:t>Mildly Entertaining</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8514732"/>
                  </a:ext>
                </a:extLst>
              </a:tr>
              <a:tr h="315669">
                <a:tc>
                  <a:txBody>
                    <a:bodyPr/>
                    <a:lstStyle/>
                    <a:p>
                      <a:pPr algn="ctr" fontAlgn="b"/>
                      <a:r>
                        <a:rPr lang="en-IN" sz="1100" b="0" i="0" u="none" strike="noStrike">
                          <a:solidFill>
                            <a:srgbClr val="000000"/>
                          </a:solidFill>
                          <a:effectLst/>
                          <a:latin typeface="Aptos Narrow" panose="020B0004020202020204" pitchFamily="34" charset="0"/>
                        </a:rPr>
                        <a:t>Five Feet Apart</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2019</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a:solidFill>
                            <a:srgbClr val="000000"/>
                          </a:solidFill>
                          <a:effectLst/>
                          <a:latin typeface="Aptos Narrow" panose="020B0004020202020204" pitchFamily="34" charset="0"/>
                        </a:rPr>
                        <a:t>6.3</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1100" b="0" i="0" u="none" strike="noStrike" dirty="0">
                          <a:solidFill>
                            <a:srgbClr val="000000"/>
                          </a:solidFill>
                          <a:effectLst/>
                          <a:latin typeface="Aptos Narrow" panose="020B0004020202020204" pitchFamily="34" charset="0"/>
                        </a:rPr>
                        <a:t>Enjoyable</a:t>
                      </a:r>
                    </a:p>
                  </a:txBody>
                  <a:tcPr marL="6824" marR="6824" marT="68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50736256"/>
                  </a:ext>
                </a:extLst>
              </a:tr>
            </a:tbl>
          </a:graphicData>
        </a:graphic>
      </p:graphicFrame>
    </p:spTree>
    <p:extLst>
      <p:ext uri="{BB962C8B-B14F-4D97-AF65-F5344CB8AC3E}">
        <p14:creationId xmlns:p14="http://schemas.microsoft.com/office/powerpoint/2010/main" val="10475588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324</TotalTime>
  <Words>524</Words>
  <Application>Microsoft Office PowerPoint</Application>
  <PresentationFormat>Widescreen</PresentationFormat>
  <Paragraphs>144</Paragraphs>
  <Slides>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Aptos</vt:lpstr>
      <vt:lpstr>Aptos Display</vt:lpstr>
      <vt:lpstr>Aptos Narrow</vt:lpstr>
      <vt:lpstr>Arial</vt:lpstr>
      <vt:lpstr>Segoe UI Variable Text</vt:lpstr>
      <vt:lpstr>Wingdings</vt:lpstr>
      <vt:lpstr>Office Theme</vt:lpstr>
      <vt:lpstr>Sentimental analysis</vt:lpstr>
      <vt:lpstr>Building a Predictive Model</vt:lpstr>
      <vt:lpstr>Analyzing sentiment values</vt:lpstr>
      <vt:lpstr>Insights from Analysis</vt:lpstr>
      <vt:lpstr>Emotional vs Rating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Mallineni, Venkata Narayana</dc:creator>
  <cp:lastModifiedBy>Mallineni, Venkata Narayana</cp:lastModifiedBy>
  <cp:revision>6</cp:revision>
  <dcterms:created xsi:type="dcterms:W3CDTF">2024-11-20T23:46:45Z</dcterms:created>
  <dcterms:modified xsi:type="dcterms:W3CDTF">2024-11-23T00:01:48Z</dcterms:modified>
</cp:coreProperties>
</file>